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8288000" cy="10287000"/>
  <p:notesSz cx="6858000" cy="9144000"/>
  <p:embeddedFontLst>
    <p:embeddedFont>
      <p:font typeface="Inter" panose="020B0604020202020204" charset="0"/>
      <p:regular r:id="rId15"/>
    </p:embeddedFont>
    <p:embeddedFont>
      <p:font typeface="Inter Bold" panose="020B0604020202020204" charset="0"/>
      <p:regular r:id="rId16"/>
    </p:embeddedFont>
    <p:embeddedFont>
      <p:font typeface="Inter Light" panose="020B0604020202020204" charset="0"/>
      <p:regular r:id="rId17"/>
    </p:embeddedFont>
    <p:embeddedFont>
      <p:font typeface="Inter Semi-Bold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781969-E270-41CC-B814-0AE152C109DA}" v="11" dt="2026-09-19T09:32:46.620"/>
    <p1510:client id="{814BB8B2-0E15-4076-8450-FAFB61B88CBE}" v="91" dt="2026-09-19T09:41:48.4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71368" autoAdjust="0"/>
  </p:normalViewPr>
  <p:slideViewPr>
    <p:cSldViewPr>
      <p:cViewPr varScale="1">
        <p:scale>
          <a:sx n="30" d="100"/>
          <a:sy n="30" d="100"/>
        </p:scale>
        <p:origin x="1460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4.fntdata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FONSO JIMENA RUIZ" userId="75308276-208b-440d-95a6-6936984a21b7" providerId="ADAL" clId="{CF1DD914-066D-44B2-8A25-96CC242B1F43}"/>
    <pc:docChg chg="modSld">
      <pc:chgData name="ALFONSO JIMENA RUIZ" userId="75308276-208b-440d-95a6-6936984a21b7" providerId="ADAL" clId="{CF1DD914-066D-44B2-8A25-96CC242B1F43}" dt="2026-09-19T09:37:42.290" v="0"/>
      <pc:docMkLst>
        <pc:docMk/>
      </pc:docMkLst>
      <pc:sldChg chg="addSp modSp">
        <pc:chgData name="ALFONSO JIMENA RUIZ" userId="75308276-208b-440d-95a6-6936984a21b7" providerId="ADAL" clId="{CF1DD914-066D-44B2-8A25-96CC242B1F43}" dt="2026-09-19T09:37:42.290" v="0"/>
        <pc:sldMkLst>
          <pc:docMk/>
          <pc:sldMk cId="0" sldId="258"/>
        </pc:sldMkLst>
        <pc:spChg chg="add">
          <ac:chgData name="ALFONSO JIMENA RUIZ" userId="75308276-208b-440d-95a6-6936984a21b7" providerId="ADAL" clId="{CF1DD914-066D-44B2-8A25-96CC242B1F43}" dt="2026-09-19T09:37:42.290" v="0"/>
          <ac:spMkLst>
            <pc:docMk/>
            <pc:sldMk cId="0" sldId="258"/>
            <ac:spMk id="77" creationId="{6043F1F5-8953-977F-2346-E17DEA77D811}"/>
          </ac:spMkLst>
        </pc:spChg>
      </pc:sldChg>
    </pc:docChg>
  </pc:docChgLst>
  <pc:docChgLst>
    <pc:chgData name="ALEJANDRO CUEVAS CID" userId="S::alejandro.cuevas@alumnos.upm.es::c77d4865-f8d2-43c9-9a95-e67162e8a7f7" providerId="AD" clId="Web-{5F781969-E270-41CC-B814-0AE152C109DA}"/>
    <pc:docChg chg="modSld">
      <pc:chgData name="ALEJANDRO CUEVAS CID" userId="S::alejandro.cuevas@alumnos.upm.es::c77d4865-f8d2-43c9-9a95-e67162e8a7f7" providerId="AD" clId="Web-{5F781969-E270-41CC-B814-0AE152C109DA}" dt="2026-09-19T09:32:46.620" v="10"/>
      <pc:docMkLst>
        <pc:docMk/>
      </pc:docMkLst>
      <pc:sldChg chg="delSp modSp">
        <pc:chgData name="ALEJANDRO CUEVAS CID" userId="S::alejandro.cuevas@alumnos.upm.es::c77d4865-f8d2-43c9-9a95-e67162e8a7f7" providerId="AD" clId="Web-{5F781969-E270-41CC-B814-0AE152C109DA}" dt="2026-09-19T09:28:11.407" v="3" actId="1076"/>
        <pc:sldMkLst>
          <pc:docMk/>
          <pc:sldMk cId="0" sldId="256"/>
        </pc:sldMkLst>
        <pc:spChg chg="mod">
          <ac:chgData name="ALEJANDRO CUEVAS CID" userId="S::alejandro.cuevas@alumnos.upm.es::c77d4865-f8d2-43c9-9a95-e67162e8a7f7" providerId="AD" clId="Web-{5F781969-E270-41CC-B814-0AE152C109DA}" dt="2026-09-19T09:28:11.407" v="3" actId="1076"/>
          <ac:spMkLst>
            <pc:docMk/>
            <pc:sldMk cId="0" sldId="256"/>
            <ac:spMk id="5" creationId="{00000000-0000-0000-0000-000000000000}"/>
          </ac:spMkLst>
        </pc:spChg>
        <pc:spChg chg="del">
          <ac:chgData name="ALEJANDRO CUEVAS CID" userId="S::alejandro.cuevas@alumnos.upm.es::c77d4865-f8d2-43c9-9a95-e67162e8a7f7" providerId="AD" clId="Web-{5F781969-E270-41CC-B814-0AE152C109DA}" dt="2026-09-19T09:27:38.047" v="0"/>
          <ac:spMkLst>
            <pc:docMk/>
            <pc:sldMk cId="0" sldId="256"/>
            <ac:spMk id="6" creationId="{00000000-0000-0000-0000-000000000000}"/>
          </ac:spMkLst>
        </pc:spChg>
        <pc:spChg chg="del">
          <ac:chgData name="ALEJANDRO CUEVAS CID" userId="S::alejandro.cuevas@alumnos.upm.es::c77d4865-f8d2-43c9-9a95-e67162e8a7f7" providerId="AD" clId="Web-{5F781969-E270-41CC-B814-0AE152C109DA}" dt="2026-09-19T09:27:45.047" v="2"/>
          <ac:spMkLst>
            <pc:docMk/>
            <pc:sldMk cId="0" sldId="256"/>
            <ac:spMk id="7" creationId="{00000000-0000-0000-0000-000000000000}"/>
          </ac:spMkLst>
        </pc:spChg>
        <pc:spChg chg="del">
          <ac:chgData name="ALEJANDRO CUEVAS CID" userId="S::alejandro.cuevas@alumnos.upm.es::c77d4865-f8d2-43c9-9a95-e67162e8a7f7" providerId="AD" clId="Web-{5F781969-E270-41CC-B814-0AE152C109DA}" dt="2026-09-19T09:27:42.390" v="1"/>
          <ac:spMkLst>
            <pc:docMk/>
            <pc:sldMk cId="0" sldId="256"/>
            <ac:spMk id="8" creationId="{00000000-0000-0000-0000-000000000000}"/>
          </ac:spMkLst>
        </pc:spChg>
      </pc:sldChg>
      <pc:sldChg chg="addSp delSp modSp">
        <pc:chgData name="ALEJANDRO CUEVAS CID" userId="S::alejandro.cuevas@alumnos.upm.es::c77d4865-f8d2-43c9-9a95-e67162e8a7f7" providerId="AD" clId="Web-{5F781969-E270-41CC-B814-0AE152C109DA}" dt="2026-09-19T09:32:46.620" v="10"/>
        <pc:sldMkLst>
          <pc:docMk/>
          <pc:sldMk cId="0" sldId="257"/>
        </pc:sldMkLst>
        <pc:spChg chg="del">
          <ac:chgData name="ALEJANDRO CUEVAS CID" userId="S::alejandro.cuevas@alumnos.upm.es::c77d4865-f8d2-43c9-9a95-e67162e8a7f7" providerId="AD" clId="Web-{5F781969-E270-41CC-B814-0AE152C109DA}" dt="2026-09-19T09:32:19.541" v="5"/>
          <ac:spMkLst>
            <pc:docMk/>
            <pc:sldMk cId="0" sldId="257"/>
            <ac:spMk id="4" creationId="{00000000-0000-0000-0000-000000000000}"/>
          </ac:spMkLst>
        </pc:spChg>
        <pc:spChg chg="mod">
          <ac:chgData name="ALEJANDRO CUEVAS CID" userId="S::alejandro.cuevas@alumnos.upm.es::c77d4865-f8d2-43c9-9a95-e67162e8a7f7" providerId="AD" clId="Web-{5F781969-E270-41CC-B814-0AE152C109DA}" dt="2026-09-19T09:32:26.353" v="8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ALEJANDRO CUEVAS CID" userId="S::alejandro.cuevas@alumnos.upm.es::c77d4865-f8d2-43c9-9a95-e67162e8a7f7" providerId="AD" clId="Web-{5F781969-E270-41CC-B814-0AE152C109DA}" dt="2026-09-19T09:32:18.369" v="4" actId="1076"/>
          <ac:spMkLst>
            <pc:docMk/>
            <pc:sldMk cId="0" sldId="257"/>
            <ac:spMk id="6" creationId="{00000000-0000-0000-0000-000000000000}"/>
          </ac:spMkLst>
        </pc:spChg>
        <pc:picChg chg="add mod">
          <ac:chgData name="ALEJANDRO CUEVAS CID" userId="S::alejandro.cuevas@alumnos.upm.es::c77d4865-f8d2-43c9-9a95-e67162e8a7f7" providerId="AD" clId="Web-{5F781969-E270-41CC-B814-0AE152C109DA}" dt="2026-09-19T09:32:23.994" v="7" actId="1076"/>
          <ac:picMkLst>
            <pc:docMk/>
            <pc:sldMk cId="0" sldId="257"/>
            <ac:picMk id="9" creationId="{37A98BF9-2F5F-F0A9-4DE7-580FF96DA378}"/>
          </ac:picMkLst>
        </pc:picChg>
        <pc:picChg chg="add del mod">
          <ac:chgData name="ALEJANDRO CUEVAS CID" userId="S::alejandro.cuevas@alumnos.upm.es::c77d4865-f8d2-43c9-9a95-e67162e8a7f7" providerId="AD" clId="Web-{5F781969-E270-41CC-B814-0AE152C109DA}" dt="2026-09-19T09:32:46.620" v="10"/>
          <ac:picMkLst>
            <pc:docMk/>
            <pc:sldMk cId="0" sldId="257"/>
            <ac:picMk id="10" creationId="{B4EB5454-4AD8-9FFE-F4A1-AD80D6AAD4A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6D39E9-FFB1-4245-A9D2-2875745D43D2}" type="datetimeFigureOut">
              <a:rPr lang="es-ES" smtClean="0"/>
              <a:t>19/09/2026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D8C4C7-C02F-4277-8B4A-A692A45A05E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1201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Comenzamos explicando brevemente el problema que tiene Alberto. Que básicamente es que tiene que procesar y decidir si una factura se paga o no manualmente consultando datos de distintas fuentes y formatos.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990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Nuestra solución. Un sistema que es capaz de centralizar la información que tenía la empresa, y es capaz de aprobar o denegar facturas con la información que tiene cruzando datos y verificando la integridad de las facturas. Además, es capaz de escalar y pedir intervención humana si encuentra inconsistencias o la cifra a pagar de la factura supera un cierto umbral.</a:t>
            </a:r>
          </a:p>
          <a:p>
            <a:endParaRPr lang="es-ES" dirty="0"/>
          </a:p>
          <a:p>
            <a:r>
              <a:rPr lang="es-ES" dirty="0"/>
              <a:t>Es un sistema autónomo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88515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Nuestra arquitectura, como funciona el sistema E2E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32708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Nuestras decisiones de ingeniería, hay que justificarlas el por qué usamos una y no otra.</a:t>
            </a:r>
          </a:p>
          <a:p>
            <a:endParaRPr lang="es-ES" dirty="0"/>
          </a:p>
          <a:p>
            <a:pPr marL="171450" indent="-171450">
              <a:buFontTx/>
              <a:buChar char="-"/>
            </a:pPr>
            <a:r>
              <a:rPr lang="es-ES" dirty="0"/>
              <a:t>Spark</a:t>
            </a:r>
          </a:p>
          <a:p>
            <a:pPr marL="171450" indent="-171450">
              <a:buFontTx/>
              <a:buChar char="-"/>
            </a:pPr>
            <a:r>
              <a:rPr lang="es-ES" dirty="0"/>
              <a:t>BBDD</a:t>
            </a:r>
          </a:p>
          <a:p>
            <a:pPr marL="171450" indent="-171450">
              <a:buFontTx/>
              <a:buChar char="-"/>
            </a:pPr>
            <a:r>
              <a:rPr lang="es-ES" dirty="0" err="1"/>
              <a:t>Etc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60690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movimiento de una factura dentro del sistema, de principio (se recibe y se carga en el sistema) hasta que es pagada, denegada o escalada para q sea revisada por un humano experto.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50766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Cómo escalaríamos el sistema y cuanto costaría. Cómo funcionaría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8064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resiliencia del sistema ante errores, recuperaciones, hackeos…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35782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Fin de presentación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D8C4C7-C02F-4277-8B4A-A692A45A05E4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8510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3" Type="http://schemas.openxmlformats.org/officeDocument/2006/relationships/image" Target="../media/image2.jpe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18" Type="http://schemas.openxmlformats.org/officeDocument/2006/relationships/image" Target="../media/image40.png"/><Relationship Id="rId3" Type="http://schemas.openxmlformats.org/officeDocument/2006/relationships/image" Target="../media/image2.jpe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17" Type="http://schemas.openxmlformats.org/officeDocument/2006/relationships/image" Target="../media/image3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19" Type="http://schemas.openxmlformats.org/officeDocument/2006/relationships/image" Target="../media/image41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2.jpe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png"/><Relationship Id="rId3" Type="http://schemas.openxmlformats.org/officeDocument/2006/relationships/image" Target="../media/image2.jpeg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5" Type="http://schemas.openxmlformats.org/officeDocument/2006/relationships/image" Target="../media/image5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Relationship Id="rId14" Type="http://schemas.openxmlformats.org/officeDocument/2006/relationships/image" Target="../media/image5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2.jpe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2.jpe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A636F4D-4D6C-438A-038C-C5720268C4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72" y="15063"/>
            <a:ext cx="18289772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14580086" y="0"/>
            <a:ext cx="3707914" cy="10287000"/>
          </a:xfrm>
          <a:custGeom>
            <a:avLst/>
            <a:gdLst/>
            <a:ahLst/>
            <a:cxnLst/>
            <a:rect l="l" t="t" r="r" b="b"/>
            <a:pathLst>
              <a:path w="3707914" h="10287000">
                <a:moveTo>
                  <a:pt x="0" y="0"/>
                </a:moveTo>
                <a:lnTo>
                  <a:pt x="3707914" y="0"/>
                </a:lnTo>
                <a:lnTo>
                  <a:pt x="3707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" name="Freeform 4"/>
          <p:cNvSpPr/>
          <p:nvPr/>
        </p:nvSpPr>
        <p:spPr>
          <a:xfrm>
            <a:off x="10226842" y="1705390"/>
            <a:ext cx="8061158" cy="7947555"/>
          </a:xfrm>
          <a:custGeom>
            <a:avLst/>
            <a:gdLst/>
            <a:ahLst/>
            <a:cxnLst/>
            <a:rect l="l" t="t" r="r" b="b"/>
            <a:pathLst>
              <a:path w="8061158" h="7947555">
                <a:moveTo>
                  <a:pt x="0" y="0"/>
                </a:moveTo>
                <a:lnTo>
                  <a:pt x="8061158" y="0"/>
                </a:lnTo>
                <a:lnTo>
                  <a:pt x="8061158" y="7947555"/>
                </a:lnTo>
                <a:lnTo>
                  <a:pt x="0" y="79475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TextBox 5"/>
          <p:cNvSpPr txBox="1"/>
          <p:nvPr/>
        </p:nvSpPr>
        <p:spPr>
          <a:xfrm>
            <a:off x="1752391" y="4668792"/>
            <a:ext cx="7388352" cy="1718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894"/>
              </a:lnSpc>
            </a:pPr>
            <a:r>
              <a:rPr lang="en-US" sz="12894" b="1" spc="-644">
                <a:solidFill>
                  <a:srgbClr val="083B27"/>
                </a:solidFill>
                <a:latin typeface="Inter Bold"/>
                <a:ea typeface="Inter Bold"/>
                <a:cs typeface="Inter Bold"/>
                <a:sym typeface="Inter Bold"/>
              </a:rPr>
              <a:t>Alberto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724B6B30-3BEA-89FE-1AAF-A4E79D0E9B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4430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14580086" y="0"/>
            <a:ext cx="3707914" cy="10287000"/>
          </a:xfrm>
          <a:custGeom>
            <a:avLst/>
            <a:gdLst/>
            <a:ahLst/>
            <a:cxnLst/>
            <a:rect l="l" t="t" r="r" b="b"/>
            <a:pathLst>
              <a:path w="3707914" h="10287000">
                <a:moveTo>
                  <a:pt x="0" y="0"/>
                </a:moveTo>
                <a:lnTo>
                  <a:pt x="3707914" y="0"/>
                </a:lnTo>
                <a:lnTo>
                  <a:pt x="3707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TextBox 5"/>
          <p:cNvSpPr txBox="1"/>
          <p:nvPr/>
        </p:nvSpPr>
        <p:spPr>
          <a:xfrm>
            <a:off x="1280160" y="790104"/>
            <a:ext cx="6693408" cy="2638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88"/>
              </a:lnSpc>
            </a:pPr>
            <a:r>
              <a:rPr lang="en-US" sz="9439" b="1" spc="-377">
                <a:solidFill>
                  <a:srgbClr val="08493B"/>
                </a:solidFill>
                <a:latin typeface="Inter Bold"/>
                <a:ea typeface="Inter Bold"/>
                <a:cs typeface="Inter Bold"/>
                <a:sym typeface="Inter Bold"/>
              </a:rPr>
              <a:t>El problema</a:t>
            </a:r>
          </a:p>
          <a:p>
            <a:pPr algn="l">
              <a:lnSpc>
                <a:spcPts val="10288"/>
              </a:lnSpc>
            </a:pPr>
            <a:r>
              <a:rPr lang="en-US" sz="9439" b="1" spc="-377">
                <a:solidFill>
                  <a:srgbClr val="08493B"/>
                </a:solidFill>
                <a:latin typeface="Inter Bold"/>
                <a:ea typeface="Inter Bold"/>
                <a:cs typeface="Inter Bold"/>
                <a:sym typeface="Inter Bold"/>
              </a:rPr>
              <a:t>de Alberto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051896" y="7919318"/>
            <a:ext cx="4334256" cy="1715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29"/>
              </a:lnSpc>
            </a:pPr>
            <a:r>
              <a:rPr lang="en-US" sz="2893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500 facturas PDF diarias</a:t>
            </a:r>
          </a:p>
          <a:p>
            <a:pPr algn="l">
              <a:lnSpc>
                <a:spcPts val="4629"/>
              </a:lnSpc>
            </a:pPr>
            <a:r>
              <a:rPr lang="en-US" sz="2893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1 Excel de proveedores</a:t>
            </a:r>
          </a:p>
          <a:p>
            <a:pPr algn="l">
              <a:lnSpc>
                <a:spcPts val="4629"/>
              </a:lnSpc>
            </a:pPr>
            <a:r>
              <a:rPr lang="en-US" sz="2893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1 ERP de 2009</a:t>
            </a:r>
          </a:p>
        </p:txBody>
      </p:sp>
      <p:sp>
        <p:nvSpPr>
          <p:cNvPr id="7" name="Freeform 7"/>
          <p:cNvSpPr/>
          <p:nvPr/>
        </p:nvSpPr>
        <p:spPr>
          <a:xfrm>
            <a:off x="1082842" y="6428009"/>
            <a:ext cx="7634584" cy="218640"/>
          </a:xfrm>
          <a:custGeom>
            <a:avLst/>
            <a:gdLst/>
            <a:ahLst/>
            <a:cxnLst/>
            <a:rect l="l" t="t" r="r" b="b"/>
            <a:pathLst>
              <a:path w="7634584" h="218640">
                <a:moveTo>
                  <a:pt x="0" y="0"/>
                </a:moveTo>
                <a:lnTo>
                  <a:pt x="7634584" y="0"/>
                </a:lnTo>
                <a:lnTo>
                  <a:pt x="7634584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TextBox 8"/>
          <p:cNvSpPr txBox="1"/>
          <p:nvPr/>
        </p:nvSpPr>
        <p:spPr>
          <a:xfrm>
            <a:off x="1280160" y="7036906"/>
            <a:ext cx="7223760" cy="1758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1"/>
              </a:lnSpc>
            </a:pPr>
            <a:r>
              <a:rPr lang="en-US" sz="2893" spc="-86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Usuarios: equipo financiero y contable</a:t>
            </a:r>
          </a:p>
          <a:p>
            <a:pPr algn="l">
              <a:lnSpc>
                <a:spcPts val="3471"/>
              </a:lnSpc>
            </a:pPr>
            <a:endParaRPr lang="en-US" sz="2893" spc="-86">
              <a:solidFill>
                <a:srgbClr val="08493B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471"/>
              </a:lnSpc>
            </a:pPr>
            <a:r>
              <a:rPr lang="en-US" sz="2893" spc="-86">
                <a:solidFill>
                  <a:srgbClr val="08493B"/>
                </a:solidFill>
                <a:latin typeface="Inter"/>
                <a:ea typeface="Inter"/>
                <a:cs typeface="Inter"/>
                <a:sym typeface="Inter"/>
              </a:rPr>
              <a:t>Se pierde tiempo en </a:t>
            </a:r>
            <a:r>
              <a:rPr lang="en-US" sz="2893" b="1" spc="-86">
                <a:solidFill>
                  <a:srgbClr val="169D79"/>
                </a:solidFill>
                <a:latin typeface="Inter Bold"/>
                <a:ea typeface="Inter Bold"/>
                <a:cs typeface="Inter Bold"/>
                <a:sym typeface="Inter Bold"/>
              </a:rPr>
              <a:t>revisión manual,</a:t>
            </a:r>
          </a:p>
          <a:p>
            <a:pPr algn="l">
              <a:lnSpc>
                <a:spcPts val="3471"/>
              </a:lnSpc>
            </a:pPr>
            <a:r>
              <a:rPr lang="en-US" sz="2893" b="1" spc="-86">
                <a:solidFill>
                  <a:srgbClr val="169D79"/>
                </a:solidFill>
                <a:latin typeface="Inter Bold"/>
                <a:ea typeface="Inter Bold"/>
                <a:cs typeface="Inter Bold"/>
                <a:sym typeface="Inter Bold"/>
              </a:rPr>
              <a:t>cruce de datos y decisiones sobre pagos.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7A98BF9-2F5F-F0A9-4DE7-580FF96DA3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3127" y="1083514"/>
            <a:ext cx="2038350" cy="20383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Imagen 78">
            <a:extLst>
              <a:ext uri="{FF2B5EF4-FFF2-40B4-BE49-F238E27FC236}">
                <a16:creationId xmlns:a16="http://schemas.microsoft.com/office/drawing/2014/main" id="{A8CEF12E-0259-B17B-EAE3-B72348070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426574" y="2776725"/>
            <a:ext cx="5457962" cy="5367606"/>
          </a:xfrm>
          <a:custGeom>
            <a:avLst/>
            <a:gdLst/>
            <a:ahLst/>
            <a:cxnLst/>
            <a:rect l="l" t="t" r="r" b="b"/>
            <a:pathLst>
              <a:path w="5457962" h="5367606">
                <a:moveTo>
                  <a:pt x="0" y="0"/>
                </a:moveTo>
                <a:lnTo>
                  <a:pt x="5457962" y="0"/>
                </a:lnTo>
                <a:lnTo>
                  <a:pt x="5457962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" name="Freeform 4"/>
          <p:cNvSpPr/>
          <p:nvPr/>
        </p:nvSpPr>
        <p:spPr>
          <a:xfrm>
            <a:off x="426574" y="2776725"/>
            <a:ext cx="1104718" cy="5367606"/>
          </a:xfrm>
          <a:custGeom>
            <a:avLst/>
            <a:gdLst/>
            <a:ahLst/>
            <a:cxnLst/>
            <a:rect l="l" t="t" r="r" b="b"/>
            <a:pathLst>
              <a:path w="1104718" h="5367606">
                <a:moveTo>
                  <a:pt x="0" y="0"/>
                </a:moveTo>
                <a:lnTo>
                  <a:pt x="1104718" y="0"/>
                </a:lnTo>
                <a:lnTo>
                  <a:pt x="1104718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Freeform 5"/>
          <p:cNvSpPr/>
          <p:nvPr/>
        </p:nvSpPr>
        <p:spPr>
          <a:xfrm>
            <a:off x="426574" y="3640352"/>
            <a:ext cx="1104718" cy="437279"/>
          </a:xfrm>
          <a:custGeom>
            <a:avLst/>
            <a:gdLst/>
            <a:ahLst/>
            <a:cxnLst/>
            <a:rect l="l" t="t" r="r" b="b"/>
            <a:pathLst>
              <a:path w="1104718" h="437279">
                <a:moveTo>
                  <a:pt x="0" y="0"/>
                </a:moveTo>
                <a:lnTo>
                  <a:pt x="1104718" y="0"/>
                </a:lnTo>
                <a:lnTo>
                  <a:pt x="110471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Freeform 6"/>
          <p:cNvSpPr/>
          <p:nvPr/>
        </p:nvSpPr>
        <p:spPr>
          <a:xfrm>
            <a:off x="1520354" y="3640352"/>
            <a:ext cx="1093780" cy="863627"/>
          </a:xfrm>
          <a:custGeom>
            <a:avLst/>
            <a:gdLst/>
            <a:ahLst/>
            <a:cxnLst/>
            <a:rect l="l" t="t" r="r" b="b"/>
            <a:pathLst>
              <a:path w="1093780" h="863627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Freeform 7"/>
          <p:cNvSpPr/>
          <p:nvPr/>
        </p:nvSpPr>
        <p:spPr>
          <a:xfrm>
            <a:off x="2603196" y="3640352"/>
            <a:ext cx="1104718" cy="863627"/>
          </a:xfrm>
          <a:custGeom>
            <a:avLst/>
            <a:gdLst/>
            <a:ahLst/>
            <a:cxnLst/>
            <a:rect l="l" t="t" r="r" b="b"/>
            <a:pathLst>
              <a:path w="1104718" h="863627">
                <a:moveTo>
                  <a:pt x="0" y="0"/>
                </a:moveTo>
                <a:lnTo>
                  <a:pt x="1104718" y="0"/>
                </a:lnTo>
                <a:lnTo>
                  <a:pt x="1104718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Freeform 8"/>
          <p:cNvSpPr/>
          <p:nvPr/>
        </p:nvSpPr>
        <p:spPr>
          <a:xfrm>
            <a:off x="3478220" y="3640352"/>
            <a:ext cx="1093780" cy="863627"/>
          </a:xfrm>
          <a:custGeom>
            <a:avLst/>
            <a:gdLst/>
            <a:ahLst/>
            <a:cxnLst/>
            <a:rect l="l" t="t" r="r" b="b"/>
            <a:pathLst>
              <a:path w="1093780" h="863627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9" name="Freeform 9"/>
          <p:cNvSpPr/>
          <p:nvPr/>
        </p:nvSpPr>
        <p:spPr>
          <a:xfrm>
            <a:off x="4572000" y="3640352"/>
            <a:ext cx="1093780" cy="863627"/>
          </a:xfrm>
          <a:custGeom>
            <a:avLst/>
            <a:gdLst/>
            <a:ahLst/>
            <a:cxnLst/>
            <a:rect l="l" t="t" r="r" b="b"/>
            <a:pathLst>
              <a:path w="1093780" h="863627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0" name="TextBox 10"/>
          <p:cNvSpPr txBox="1"/>
          <p:nvPr/>
        </p:nvSpPr>
        <p:spPr>
          <a:xfrm>
            <a:off x="4791456" y="3923875"/>
            <a:ext cx="219456" cy="261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1"/>
              </a:lnSpc>
            </a:pPr>
            <a:r>
              <a:rPr lang="en-US" sz="1536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12</a:t>
            </a:r>
          </a:p>
        </p:txBody>
      </p:sp>
      <p:sp>
        <p:nvSpPr>
          <p:cNvPr id="11" name="Freeform 11"/>
          <p:cNvSpPr/>
          <p:nvPr/>
        </p:nvSpPr>
        <p:spPr>
          <a:xfrm>
            <a:off x="1520354" y="4493047"/>
            <a:ext cx="1968804" cy="2372241"/>
          </a:xfrm>
          <a:custGeom>
            <a:avLst/>
            <a:gdLst/>
            <a:ahLst/>
            <a:cxnLst/>
            <a:rect l="l" t="t" r="r" b="b"/>
            <a:pathLst>
              <a:path w="1968804" h="2372241">
                <a:moveTo>
                  <a:pt x="0" y="0"/>
                </a:moveTo>
                <a:lnTo>
                  <a:pt x="1968804" y="0"/>
                </a:lnTo>
                <a:lnTo>
                  <a:pt x="1968804" y="2372241"/>
                </a:lnTo>
                <a:lnTo>
                  <a:pt x="0" y="237224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2" name="Freeform 12"/>
          <p:cNvSpPr/>
          <p:nvPr/>
        </p:nvSpPr>
        <p:spPr>
          <a:xfrm>
            <a:off x="1739110" y="7280704"/>
            <a:ext cx="3489158" cy="655919"/>
          </a:xfrm>
          <a:custGeom>
            <a:avLst/>
            <a:gdLst/>
            <a:ahLst/>
            <a:cxnLst/>
            <a:rect l="l" t="t" r="r" b="b"/>
            <a:pathLst>
              <a:path w="3489158" h="655919">
                <a:moveTo>
                  <a:pt x="0" y="0"/>
                </a:moveTo>
                <a:lnTo>
                  <a:pt x="3489158" y="0"/>
                </a:lnTo>
                <a:lnTo>
                  <a:pt x="3489158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3" name="Freeform 13"/>
          <p:cNvSpPr/>
          <p:nvPr/>
        </p:nvSpPr>
        <p:spPr>
          <a:xfrm>
            <a:off x="5217330" y="2995365"/>
            <a:ext cx="448450" cy="229572"/>
          </a:xfrm>
          <a:custGeom>
            <a:avLst/>
            <a:gdLst/>
            <a:ahLst/>
            <a:cxnLst/>
            <a:rect l="l" t="t" r="r" b="b"/>
            <a:pathLst>
              <a:path w="448450" h="229572">
                <a:moveTo>
                  <a:pt x="0" y="0"/>
                </a:moveTo>
                <a:lnTo>
                  <a:pt x="448450" y="0"/>
                </a:lnTo>
                <a:lnTo>
                  <a:pt x="448450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4" name="Freeform 14"/>
          <p:cNvSpPr/>
          <p:nvPr/>
        </p:nvSpPr>
        <p:spPr>
          <a:xfrm>
            <a:off x="6092354" y="2776725"/>
            <a:ext cx="5884536" cy="5367606"/>
          </a:xfrm>
          <a:custGeom>
            <a:avLst/>
            <a:gdLst/>
            <a:ahLst/>
            <a:cxnLst/>
            <a:rect l="l" t="t" r="r" b="b"/>
            <a:pathLst>
              <a:path w="5884536" h="5367606">
                <a:moveTo>
                  <a:pt x="0" y="0"/>
                </a:moveTo>
                <a:lnTo>
                  <a:pt x="5884536" y="0"/>
                </a:lnTo>
                <a:lnTo>
                  <a:pt x="5884536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Freeform 15"/>
          <p:cNvSpPr/>
          <p:nvPr/>
        </p:nvSpPr>
        <p:spPr>
          <a:xfrm>
            <a:off x="6092354" y="2776725"/>
            <a:ext cx="1093780" cy="5367606"/>
          </a:xfrm>
          <a:custGeom>
            <a:avLst/>
            <a:gdLst/>
            <a:ahLst/>
            <a:cxnLst/>
            <a:rect l="l" t="t" r="r" b="b"/>
            <a:pathLst>
              <a:path w="1093780" h="5367606">
                <a:moveTo>
                  <a:pt x="0" y="0"/>
                </a:moveTo>
                <a:lnTo>
                  <a:pt x="1093780" y="0"/>
                </a:lnTo>
                <a:lnTo>
                  <a:pt x="1093780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6" name="Freeform 16"/>
          <p:cNvSpPr/>
          <p:nvPr/>
        </p:nvSpPr>
        <p:spPr>
          <a:xfrm>
            <a:off x="6092354" y="3848060"/>
            <a:ext cx="1093780" cy="655919"/>
          </a:xfrm>
          <a:custGeom>
            <a:avLst/>
            <a:gdLst/>
            <a:ahLst/>
            <a:cxnLst/>
            <a:rect l="l" t="t" r="r" b="b"/>
            <a:pathLst>
              <a:path w="1093780" h="655919">
                <a:moveTo>
                  <a:pt x="0" y="0"/>
                </a:moveTo>
                <a:lnTo>
                  <a:pt x="1093780" y="0"/>
                </a:lnTo>
                <a:lnTo>
                  <a:pt x="109378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Freeform 17"/>
          <p:cNvSpPr/>
          <p:nvPr/>
        </p:nvSpPr>
        <p:spPr>
          <a:xfrm>
            <a:off x="7175196" y="3848060"/>
            <a:ext cx="4582938" cy="3224936"/>
          </a:xfrm>
          <a:custGeom>
            <a:avLst/>
            <a:gdLst/>
            <a:ahLst/>
            <a:cxnLst/>
            <a:rect l="l" t="t" r="r" b="b"/>
            <a:pathLst>
              <a:path w="4582938" h="3224936">
                <a:moveTo>
                  <a:pt x="0" y="0"/>
                </a:moveTo>
                <a:lnTo>
                  <a:pt x="4582938" y="0"/>
                </a:lnTo>
                <a:lnTo>
                  <a:pt x="4582938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8" name="Freeform 18"/>
          <p:cNvSpPr/>
          <p:nvPr/>
        </p:nvSpPr>
        <p:spPr>
          <a:xfrm>
            <a:off x="11101866" y="2995365"/>
            <a:ext cx="656268" cy="229572"/>
          </a:xfrm>
          <a:custGeom>
            <a:avLst/>
            <a:gdLst/>
            <a:ahLst/>
            <a:cxnLst/>
            <a:rect l="l" t="t" r="r" b="b"/>
            <a:pathLst>
              <a:path w="656268" h="229572">
                <a:moveTo>
                  <a:pt x="0" y="0"/>
                </a:moveTo>
                <a:lnTo>
                  <a:pt x="656268" y="0"/>
                </a:lnTo>
                <a:lnTo>
                  <a:pt x="656268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9" name="Freeform 19"/>
          <p:cNvSpPr/>
          <p:nvPr/>
        </p:nvSpPr>
        <p:spPr>
          <a:xfrm>
            <a:off x="12184708" y="2776725"/>
            <a:ext cx="5895474" cy="5367606"/>
          </a:xfrm>
          <a:custGeom>
            <a:avLst/>
            <a:gdLst/>
            <a:ahLst/>
            <a:cxnLst/>
            <a:rect l="l" t="t" r="r" b="b"/>
            <a:pathLst>
              <a:path w="5895474" h="5367606">
                <a:moveTo>
                  <a:pt x="0" y="0"/>
                </a:moveTo>
                <a:lnTo>
                  <a:pt x="5895474" y="0"/>
                </a:lnTo>
                <a:lnTo>
                  <a:pt x="5895474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0" name="Freeform 20"/>
          <p:cNvSpPr/>
          <p:nvPr/>
        </p:nvSpPr>
        <p:spPr>
          <a:xfrm>
            <a:off x="12184708" y="2776725"/>
            <a:ext cx="1104718" cy="5367606"/>
          </a:xfrm>
          <a:custGeom>
            <a:avLst/>
            <a:gdLst/>
            <a:ahLst/>
            <a:cxnLst/>
            <a:rect l="l" t="t" r="r" b="b"/>
            <a:pathLst>
              <a:path w="1104718" h="5367606">
                <a:moveTo>
                  <a:pt x="0" y="0"/>
                </a:moveTo>
                <a:lnTo>
                  <a:pt x="1104718" y="0"/>
                </a:lnTo>
                <a:lnTo>
                  <a:pt x="1104718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1" name="TextBox 21"/>
          <p:cNvSpPr txBox="1"/>
          <p:nvPr/>
        </p:nvSpPr>
        <p:spPr>
          <a:xfrm>
            <a:off x="694944" y="3186810"/>
            <a:ext cx="548640" cy="13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0"/>
              </a:lnSpc>
            </a:pPr>
            <a:r>
              <a:rPr lang="en-US" sz="85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Alberto AI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609344" y="3337464"/>
            <a:ext cx="1133856" cy="167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1"/>
              </a:lnSpc>
            </a:pPr>
            <a:r>
              <a:rPr lang="en-US" sz="1044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Resumen general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664208" y="3909527"/>
            <a:ext cx="438912" cy="290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7"/>
              </a:lnSpc>
            </a:pPr>
            <a:r>
              <a:rPr lang="en-US" sz="169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500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688336" y="3918921"/>
            <a:ext cx="438912" cy="271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08"/>
              </a:lnSpc>
            </a:pPr>
            <a:r>
              <a:rPr lang="en-US" sz="1577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98%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749040" y="3914611"/>
            <a:ext cx="292608" cy="289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1779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32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94944" y="4128262"/>
            <a:ext cx="365760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Facturas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94944" y="4498594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Proveedores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94944" y="4879213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Configuración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609344" y="5156962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Aprobados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072384" y="5156962"/>
            <a:ext cx="219456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Aprobada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749040" y="5156962"/>
            <a:ext cx="219456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Aprobada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175504" y="5217634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Aprobada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609344" y="5434711"/>
            <a:ext cx="694944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Requem revisión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072384" y="5495383"/>
            <a:ext cx="219456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76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749040" y="5434711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Requem revisión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175504" y="5434711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Requem revisión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609344" y="5712460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072384" y="5773132"/>
            <a:ext cx="219456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876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749040" y="5712460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175504" y="5712460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609344" y="5990209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072384" y="6050881"/>
            <a:ext cx="219456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76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3749040" y="5990209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175504" y="5990209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609344" y="6370828"/>
            <a:ext cx="694944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175504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3749040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175504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Rechazados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664208" y="4879213"/>
            <a:ext cx="987552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Estado de procesamiento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3072384" y="4939885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 n°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749040" y="4939885"/>
            <a:ext cx="694944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 n°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175504" y="4939885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 n°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609344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3749040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5175504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749040" y="6370828"/>
            <a:ext cx="475488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Volumen por día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437376" y="3186810"/>
            <a:ext cx="548640" cy="13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0"/>
              </a:lnSpc>
            </a:pPr>
            <a:r>
              <a:rPr lang="en-US" sz="85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Alberto AI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388352" y="3337464"/>
            <a:ext cx="1389888" cy="167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1"/>
              </a:lnSpc>
            </a:pPr>
            <a:r>
              <a:rPr lang="en-US" sz="1044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Facturas procesadas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6437376" y="3747643"/>
            <a:ext cx="365760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Resumen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388352" y="3807769"/>
            <a:ext cx="987552" cy="1218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01. Dónde se procedirá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247888" y="3808315"/>
            <a:ext cx="1133856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02. Por qué se procedirá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0936224" y="3747643"/>
            <a:ext cx="731520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03. Por qué se procedirá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6437376" y="4138549"/>
            <a:ext cx="365760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Facturas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7388352" y="4138549"/>
            <a:ext cx="365760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Factura n°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8247888" y="4138549"/>
            <a:ext cx="219456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Fecha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9290304" y="4138549"/>
            <a:ext cx="219456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Fecha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0332720" y="4138549"/>
            <a:ext cx="219456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Fecha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1192256" y="4138549"/>
            <a:ext cx="219456" cy="24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4"/>
              </a:lnSpc>
            </a:pPr>
            <a:r>
              <a:rPr lang="en-US" sz="688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Fecha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437376" y="4579840"/>
            <a:ext cx="365760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03. 04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7388352" y="4579840"/>
            <a:ext cx="694944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04. 05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8247888" y="4579840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06. 07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9290304" y="4579840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08. 09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0332720" y="4579840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10. 11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1192256" y="4579840"/>
            <a:ext cx="475488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00492C"/>
                </a:solidFill>
                <a:latin typeface="Inter Bold"/>
                <a:ea typeface="Inter Bold"/>
                <a:cs typeface="Inter Bold"/>
                <a:sym typeface="Inter Bold"/>
              </a:rPr>
              <a:t>12. 13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6437376" y="4960459"/>
            <a:ext cx="365760" cy="12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"/>
              </a:lnSpc>
            </a:pPr>
            <a:r>
              <a:rPr lang="en-US" sz="732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04. 05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n 30">
            <a:extLst>
              <a:ext uri="{FF2B5EF4-FFF2-40B4-BE49-F238E27FC236}">
                <a16:creationId xmlns:a16="http://schemas.microsoft.com/office/drawing/2014/main" id="{BB818563-A17E-FB78-3008-1B65E9A011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6" y="0"/>
            <a:ext cx="18257874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68096" y="796750"/>
            <a:ext cx="5815584" cy="978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54"/>
              </a:lnSpc>
            </a:pPr>
            <a:r>
              <a:rPr lang="en-US" sz="7254" b="1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Arquitectura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8096" y="2038297"/>
            <a:ext cx="5193792" cy="343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54"/>
              </a:lnSpc>
            </a:pPr>
            <a:r>
              <a:rPr lang="en-US" sz="2554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Flujo principal y puntos de control</a:t>
            </a:r>
          </a:p>
        </p:txBody>
      </p:sp>
      <p:sp>
        <p:nvSpPr>
          <p:cNvPr id="5" name="Freeform 5"/>
          <p:cNvSpPr/>
          <p:nvPr/>
        </p:nvSpPr>
        <p:spPr>
          <a:xfrm>
            <a:off x="645330" y="2995365"/>
            <a:ext cx="2625072" cy="1508614"/>
          </a:xfrm>
          <a:custGeom>
            <a:avLst/>
            <a:gdLst/>
            <a:ahLst/>
            <a:cxnLst/>
            <a:rect l="l" t="t" r="r" b="b"/>
            <a:pathLst>
              <a:path w="2625072" h="1508614">
                <a:moveTo>
                  <a:pt x="0" y="0"/>
                </a:moveTo>
                <a:lnTo>
                  <a:pt x="2625072" y="0"/>
                </a:lnTo>
                <a:lnTo>
                  <a:pt x="262507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TextBox 6"/>
          <p:cNvSpPr txBox="1"/>
          <p:nvPr/>
        </p:nvSpPr>
        <p:spPr>
          <a:xfrm>
            <a:off x="786384" y="3378130"/>
            <a:ext cx="2286000" cy="798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Entrada</a:t>
            </a:r>
          </a:p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 documentos</a:t>
            </a:r>
          </a:p>
        </p:txBody>
      </p:sp>
      <p:sp>
        <p:nvSpPr>
          <p:cNvPr id="7" name="Freeform 7"/>
          <p:cNvSpPr/>
          <p:nvPr/>
        </p:nvSpPr>
        <p:spPr>
          <a:xfrm>
            <a:off x="3040708" y="3640352"/>
            <a:ext cx="1104718" cy="437279"/>
          </a:xfrm>
          <a:custGeom>
            <a:avLst/>
            <a:gdLst/>
            <a:ahLst/>
            <a:cxnLst/>
            <a:rect l="l" t="t" r="r" b="b"/>
            <a:pathLst>
              <a:path w="1104718" h="437279">
                <a:moveTo>
                  <a:pt x="0" y="0"/>
                </a:moveTo>
                <a:lnTo>
                  <a:pt x="1104718" y="0"/>
                </a:lnTo>
                <a:lnTo>
                  <a:pt x="110471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Freeform 8"/>
          <p:cNvSpPr/>
          <p:nvPr/>
        </p:nvSpPr>
        <p:spPr>
          <a:xfrm>
            <a:off x="3915732" y="2995365"/>
            <a:ext cx="3270402" cy="1727254"/>
          </a:xfrm>
          <a:custGeom>
            <a:avLst/>
            <a:gdLst/>
            <a:ahLst/>
            <a:cxnLst/>
            <a:rect l="l" t="t" r="r" b="b"/>
            <a:pathLst>
              <a:path w="3270402" h="1727254">
                <a:moveTo>
                  <a:pt x="0" y="0"/>
                </a:moveTo>
                <a:lnTo>
                  <a:pt x="3270402" y="0"/>
                </a:lnTo>
                <a:lnTo>
                  <a:pt x="3270402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9" name="TextBox 9"/>
          <p:cNvSpPr txBox="1"/>
          <p:nvPr/>
        </p:nvSpPr>
        <p:spPr>
          <a:xfrm>
            <a:off x="4041648" y="3289039"/>
            <a:ext cx="2816352" cy="11718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2"/>
              </a:lnSpc>
            </a:pPr>
            <a:r>
              <a:rPr lang="en-US" sz="2223" b="1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OCR Worker</a:t>
            </a:r>
          </a:p>
          <a:p>
            <a:pPr algn="ctr">
              <a:lnSpc>
                <a:spcPts val="3112"/>
              </a:lnSpc>
            </a:pPr>
            <a:r>
              <a:rPr lang="en-US" sz="2223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Extrae la información del documento</a:t>
            </a:r>
          </a:p>
        </p:txBody>
      </p:sp>
      <p:sp>
        <p:nvSpPr>
          <p:cNvPr id="10" name="Freeform 10"/>
          <p:cNvSpPr/>
          <p:nvPr/>
        </p:nvSpPr>
        <p:spPr>
          <a:xfrm>
            <a:off x="6956440" y="3640352"/>
            <a:ext cx="667206" cy="437279"/>
          </a:xfrm>
          <a:custGeom>
            <a:avLst/>
            <a:gdLst/>
            <a:ahLst/>
            <a:cxnLst/>
            <a:rect l="l" t="t" r="r" b="b"/>
            <a:pathLst>
              <a:path w="667206" h="437279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1" name="Freeform 11"/>
          <p:cNvSpPr/>
          <p:nvPr/>
        </p:nvSpPr>
        <p:spPr>
          <a:xfrm>
            <a:off x="7393952" y="2995365"/>
            <a:ext cx="3281340" cy="1727254"/>
          </a:xfrm>
          <a:custGeom>
            <a:avLst/>
            <a:gdLst/>
            <a:ahLst/>
            <a:cxnLst/>
            <a:rect l="l" t="t" r="r" b="b"/>
            <a:pathLst>
              <a:path w="3281340" h="1727254">
                <a:moveTo>
                  <a:pt x="0" y="0"/>
                </a:moveTo>
                <a:lnTo>
                  <a:pt x="3281340" y="0"/>
                </a:lnTo>
                <a:lnTo>
                  <a:pt x="3281340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2" name="TextBox 12"/>
          <p:cNvSpPr txBox="1"/>
          <p:nvPr/>
        </p:nvSpPr>
        <p:spPr>
          <a:xfrm>
            <a:off x="7662672" y="3273615"/>
            <a:ext cx="2816352" cy="1202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Validation Worker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Valida y normaliza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los datos</a:t>
            </a:r>
          </a:p>
        </p:txBody>
      </p:sp>
      <p:sp>
        <p:nvSpPr>
          <p:cNvPr id="13" name="Freeform 13"/>
          <p:cNvSpPr/>
          <p:nvPr/>
        </p:nvSpPr>
        <p:spPr>
          <a:xfrm>
            <a:off x="10445598" y="3640352"/>
            <a:ext cx="885962" cy="437279"/>
          </a:xfrm>
          <a:custGeom>
            <a:avLst/>
            <a:gdLst/>
            <a:ahLst/>
            <a:cxnLst/>
            <a:rect l="l" t="t" r="r" b="b"/>
            <a:pathLst>
              <a:path w="885962" h="437279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4" name="Freeform 14"/>
          <p:cNvSpPr/>
          <p:nvPr/>
        </p:nvSpPr>
        <p:spPr>
          <a:xfrm>
            <a:off x="11101866" y="2995365"/>
            <a:ext cx="3270402" cy="1727254"/>
          </a:xfrm>
          <a:custGeom>
            <a:avLst/>
            <a:gdLst/>
            <a:ahLst/>
            <a:cxnLst/>
            <a:rect l="l" t="t" r="r" b="b"/>
            <a:pathLst>
              <a:path w="3270402" h="1727254">
                <a:moveTo>
                  <a:pt x="0" y="0"/>
                </a:moveTo>
                <a:lnTo>
                  <a:pt x="3270402" y="0"/>
                </a:lnTo>
                <a:lnTo>
                  <a:pt x="3270402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1283696" y="3273615"/>
            <a:ext cx="2816352" cy="1202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Decision Worker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Aplica reglas y toma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la decisión</a:t>
            </a:r>
          </a:p>
        </p:txBody>
      </p:sp>
      <p:sp>
        <p:nvSpPr>
          <p:cNvPr id="16" name="Freeform 16"/>
          <p:cNvSpPr/>
          <p:nvPr/>
        </p:nvSpPr>
        <p:spPr>
          <a:xfrm>
            <a:off x="14142574" y="3640352"/>
            <a:ext cx="885962" cy="437279"/>
          </a:xfrm>
          <a:custGeom>
            <a:avLst/>
            <a:gdLst/>
            <a:ahLst/>
            <a:cxnLst/>
            <a:rect l="l" t="t" r="r" b="b"/>
            <a:pathLst>
              <a:path w="885962" h="437279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Freeform 17"/>
          <p:cNvSpPr/>
          <p:nvPr/>
        </p:nvSpPr>
        <p:spPr>
          <a:xfrm>
            <a:off x="15017598" y="3214004"/>
            <a:ext cx="2625072" cy="1508614"/>
          </a:xfrm>
          <a:custGeom>
            <a:avLst/>
            <a:gdLst/>
            <a:ahLst/>
            <a:cxnLst/>
            <a:rect l="l" t="t" r="r" b="b"/>
            <a:pathLst>
              <a:path w="2625072" h="1508614">
                <a:moveTo>
                  <a:pt x="0" y="0"/>
                </a:moveTo>
                <a:lnTo>
                  <a:pt x="2625072" y="0"/>
                </a:lnTo>
                <a:lnTo>
                  <a:pt x="262507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8" name="Freeform 18"/>
          <p:cNvSpPr/>
          <p:nvPr/>
        </p:nvSpPr>
        <p:spPr>
          <a:xfrm>
            <a:off x="5217330" y="4493047"/>
            <a:ext cx="448450" cy="1300906"/>
          </a:xfrm>
          <a:custGeom>
            <a:avLst/>
            <a:gdLst/>
            <a:ahLst/>
            <a:cxnLst/>
            <a:rect l="l" t="t" r="r" b="b"/>
            <a:pathLst>
              <a:path w="448450" h="1300906">
                <a:moveTo>
                  <a:pt x="0" y="0"/>
                </a:moveTo>
                <a:lnTo>
                  <a:pt x="448450" y="0"/>
                </a:lnTo>
                <a:lnTo>
                  <a:pt x="448450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9" name="Freeform 19"/>
          <p:cNvSpPr/>
          <p:nvPr/>
        </p:nvSpPr>
        <p:spPr>
          <a:xfrm>
            <a:off x="3915732" y="5564382"/>
            <a:ext cx="6759560" cy="1945894"/>
          </a:xfrm>
          <a:custGeom>
            <a:avLst/>
            <a:gdLst/>
            <a:ahLst/>
            <a:cxnLst/>
            <a:rect l="l" t="t" r="r" b="b"/>
            <a:pathLst>
              <a:path w="6759560" h="1945894">
                <a:moveTo>
                  <a:pt x="0" y="0"/>
                </a:moveTo>
                <a:lnTo>
                  <a:pt x="6759560" y="0"/>
                </a:lnTo>
                <a:lnTo>
                  <a:pt x="6759560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0" name="Freeform 20"/>
          <p:cNvSpPr/>
          <p:nvPr/>
        </p:nvSpPr>
        <p:spPr>
          <a:xfrm>
            <a:off x="8925244" y="4493047"/>
            <a:ext cx="437512" cy="1300906"/>
          </a:xfrm>
          <a:custGeom>
            <a:avLst/>
            <a:gdLst/>
            <a:ahLst/>
            <a:cxnLst/>
            <a:rect l="l" t="t" r="r" b="b"/>
            <a:pathLst>
              <a:path w="437512" h="1300906">
                <a:moveTo>
                  <a:pt x="0" y="0"/>
                </a:moveTo>
                <a:lnTo>
                  <a:pt x="437512" y="0"/>
                </a:lnTo>
                <a:lnTo>
                  <a:pt x="437512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1" name="Freeform 21"/>
          <p:cNvSpPr/>
          <p:nvPr/>
        </p:nvSpPr>
        <p:spPr>
          <a:xfrm>
            <a:off x="12622220" y="4493047"/>
            <a:ext cx="885962" cy="1508614"/>
          </a:xfrm>
          <a:custGeom>
            <a:avLst/>
            <a:gdLst/>
            <a:ahLst/>
            <a:cxnLst/>
            <a:rect l="l" t="t" r="r" b="b"/>
            <a:pathLst>
              <a:path w="885962" h="1508614">
                <a:moveTo>
                  <a:pt x="0" y="0"/>
                </a:moveTo>
                <a:lnTo>
                  <a:pt x="885962" y="0"/>
                </a:lnTo>
                <a:lnTo>
                  <a:pt x="88596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2" name="Freeform 22"/>
          <p:cNvSpPr/>
          <p:nvPr/>
        </p:nvSpPr>
        <p:spPr>
          <a:xfrm>
            <a:off x="11320622" y="5990729"/>
            <a:ext cx="3489158" cy="1727254"/>
          </a:xfrm>
          <a:custGeom>
            <a:avLst/>
            <a:gdLst/>
            <a:ahLst/>
            <a:cxnLst/>
            <a:rect l="l" t="t" r="r" b="b"/>
            <a:pathLst>
              <a:path w="3489158" h="1727254">
                <a:moveTo>
                  <a:pt x="0" y="0"/>
                </a:moveTo>
                <a:lnTo>
                  <a:pt x="3489158" y="0"/>
                </a:lnTo>
                <a:lnTo>
                  <a:pt x="348915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3" name="TextBox 23"/>
          <p:cNvSpPr txBox="1"/>
          <p:nvPr/>
        </p:nvSpPr>
        <p:spPr>
          <a:xfrm>
            <a:off x="11594592" y="6220840"/>
            <a:ext cx="3474720" cy="1202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Intervención humana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Validación manual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 escalamiento</a:t>
            </a:r>
          </a:p>
        </p:txBody>
      </p:sp>
      <p:sp>
        <p:nvSpPr>
          <p:cNvPr id="24" name="Freeform 24"/>
          <p:cNvSpPr/>
          <p:nvPr/>
        </p:nvSpPr>
        <p:spPr>
          <a:xfrm>
            <a:off x="14580086" y="4493047"/>
            <a:ext cx="1968804" cy="2579949"/>
          </a:xfrm>
          <a:custGeom>
            <a:avLst/>
            <a:gdLst/>
            <a:ahLst/>
            <a:cxnLst/>
            <a:rect l="l" t="t" r="r" b="b"/>
            <a:pathLst>
              <a:path w="1968804" h="2579949">
                <a:moveTo>
                  <a:pt x="0" y="0"/>
                </a:moveTo>
                <a:lnTo>
                  <a:pt x="1968804" y="0"/>
                </a:lnTo>
                <a:lnTo>
                  <a:pt x="1968804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5" name="Freeform 25"/>
          <p:cNvSpPr/>
          <p:nvPr/>
        </p:nvSpPr>
        <p:spPr>
          <a:xfrm>
            <a:off x="645330" y="7925691"/>
            <a:ext cx="16997340" cy="1727254"/>
          </a:xfrm>
          <a:custGeom>
            <a:avLst/>
            <a:gdLst/>
            <a:ahLst/>
            <a:cxnLst/>
            <a:rect l="l" t="t" r="r" b="b"/>
            <a:pathLst>
              <a:path w="16997340" h="1727254">
                <a:moveTo>
                  <a:pt x="0" y="0"/>
                </a:moveTo>
                <a:lnTo>
                  <a:pt x="16997340" y="0"/>
                </a:lnTo>
                <a:lnTo>
                  <a:pt x="16997340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6" name="TextBox 26"/>
          <p:cNvSpPr txBox="1"/>
          <p:nvPr/>
        </p:nvSpPr>
        <p:spPr>
          <a:xfrm>
            <a:off x="1225296" y="8379372"/>
            <a:ext cx="2322576" cy="274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3"/>
              </a:lnSpc>
            </a:pPr>
            <a:r>
              <a:rPr lang="en-US" sz="2023" b="1">
                <a:solidFill>
                  <a:srgbClr val="215A4E"/>
                </a:solidFill>
                <a:latin typeface="Inter Bold"/>
                <a:ea typeface="Inter Bold"/>
                <a:cs typeface="Inter Bold"/>
                <a:sym typeface="Inter Bold"/>
              </a:rPr>
              <a:t>Stack tecnológico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25296" y="8873148"/>
            <a:ext cx="9564624" cy="274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3"/>
              </a:lnSpc>
            </a:pPr>
            <a:r>
              <a:rPr lang="en-US" sz="2023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OCR • Validación • Reglas de negocio • Base de datos • Logs • Orquestación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5087600" y="3475856"/>
            <a:ext cx="2450592" cy="798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Decisión automatizada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041648" y="6150476"/>
            <a:ext cx="6473952" cy="798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C6D43F"/>
                </a:solidFill>
                <a:latin typeface="Inter Bold"/>
                <a:ea typeface="Inter Bold"/>
                <a:cs typeface="Inter Bold"/>
                <a:sym typeface="Inter Bold"/>
              </a:rPr>
              <a:t>Almacenamiento de estado</a:t>
            </a:r>
          </a:p>
          <a:p>
            <a:pPr algn="ctr">
              <a:lnSpc>
                <a:spcPts val="3219"/>
              </a:lnSpc>
            </a:pPr>
            <a:r>
              <a:rPr lang="en-US" sz="2299">
                <a:solidFill>
                  <a:srgbClr val="215A4E"/>
                </a:solidFill>
                <a:latin typeface="Inter"/>
                <a:ea typeface="Inter"/>
                <a:cs typeface="Inter"/>
                <a:sym typeface="Inter"/>
              </a:rPr>
              <a:t>Base de datos y sistema de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2A040E85-20A2-FD38-EAA7-CA69ACB8F9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41248" y="1185807"/>
            <a:ext cx="11100816" cy="960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80"/>
              </a:lnSpc>
            </a:pPr>
            <a:r>
              <a:rPr lang="en-US" sz="7280" b="1">
                <a:solidFill>
                  <a:srgbClr val="0D3730"/>
                </a:solidFill>
                <a:latin typeface="Inter Bold"/>
                <a:ea typeface="Inter Bold"/>
                <a:cs typeface="Inter Bold"/>
                <a:sym typeface="Inter Bold"/>
              </a:rPr>
              <a:t>Decisiones de ingeniería</a:t>
            </a:r>
          </a:p>
        </p:txBody>
      </p:sp>
      <p:sp>
        <p:nvSpPr>
          <p:cNvPr id="4" name="Freeform 4"/>
          <p:cNvSpPr/>
          <p:nvPr/>
        </p:nvSpPr>
        <p:spPr>
          <a:xfrm>
            <a:off x="645330" y="2569017"/>
            <a:ext cx="4145426" cy="1082267"/>
          </a:xfrm>
          <a:custGeom>
            <a:avLst/>
            <a:gdLst/>
            <a:ahLst/>
            <a:cxnLst/>
            <a:rect l="l" t="t" r="r" b="b"/>
            <a:pathLst>
              <a:path w="4145426" h="1082267">
                <a:moveTo>
                  <a:pt x="0" y="0"/>
                </a:moveTo>
                <a:lnTo>
                  <a:pt x="4145426" y="0"/>
                </a:lnTo>
                <a:lnTo>
                  <a:pt x="4145426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Freeform 5"/>
          <p:cNvSpPr/>
          <p:nvPr/>
        </p:nvSpPr>
        <p:spPr>
          <a:xfrm>
            <a:off x="4572000" y="2569017"/>
            <a:ext cx="4572000" cy="1082267"/>
          </a:xfrm>
          <a:custGeom>
            <a:avLst/>
            <a:gdLst/>
            <a:ahLst/>
            <a:cxnLst/>
            <a:rect l="l" t="t" r="r" b="b"/>
            <a:pathLst>
              <a:path w="4572000" h="1082267">
                <a:moveTo>
                  <a:pt x="0" y="0"/>
                </a:moveTo>
                <a:lnTo>
                  <a:pt x="4572000" y="0"/>
                </a:lnTo>
                <a:lnTo>
                  <a:pt x="457200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Freeform 6"/>
          <p:cNvSpPr/>
          <p:nvPr/>
        </p:nvSpPr>
        <p:spPr>
          <a:xfrm>
            <a:off x="8925244" y="2569017"/>
            <a:ext cx="4145426" cy="1082267"/>
          </a:xfrm>
          <a:custGeom>
            <a:avLst/>
            <a:gdLst/>
            <a:ahLst/>
            <a:cxnLst/>
            <a:rect l="l" t="t" r="r" b="b"/>
            <a:pathLst>
              <a:path w="4145426" h="1082267">
                <a:moveTo>
                  <a:pt x="0" y="0"/>
                </a:moveTo>
                <a:lnTo>
                  <a:pt x="4145426" y="0"/>
                </a:lnTo>
                <a:lnTo>
                  <a:pt x="4145426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Freeform 7"/>
          <p:cNvSpPr/>
          <p:nvPr/>
        </p:nvSpPr>
        <p:spPr>
          <a:xfrm>
            <a:off x="12840976" y="2569017"/>
            <a:ext cx="4801694" cy="1082267"/>
          </a:xfrm>
          <a:custGeom>
            <a:avLst/>
            <a:gdLst/>
            <a:ahLst/>
            <a:cxnLst/>
            <a:rect l="l" t="t" r="r" b="b"/>
            <a:pathLst>
              <a:path w="4801694" h="1082267">
                <a:moveTo>
                  <a:pt x="0" y="0"/>
                </a:moveTo>
                <a:lnTo>
                  <a:pt x="4801694" y="0"/>
                </a:lnTo>
                <a:lnTo>
                  <a:pt x="4801694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Freeform 8"/>
          <p:cNvSpPr/>
          <p:nvPr/>
        </p:nvSpPr>
        <p:spPr>
          <a:xfrm>
            <a:off x="645330" y="3421712"/>
            <a:ext cx="8498670" cy="5159898"/>
          </a:xfrm>
          <a:custGeom>
            <a:avLst/>
            <a:gdLst/>
            <a:ahLst/>
            <a:cxnLst/>
            <a:rect l="l" t="t" r="r" b="b"/>
            <a:pathLst>
              <a:path w="8498670" h="5159898">
                <a:moveTo>
                  <a:pt x="0" y="0"/>
                </a:moveTo>
                <a:lnTo>
                  <a:pt x="8498670" y="0"/>
                </a:lnTo>
                <a:lnTo>
                  <a:pt x="8498670" y="5159898"/>
                </a:lnTo>
                <a:lnTo>
                  <a:pt x="0" y="515989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 dirty="0"/>
          </a:p>
        </p:txBody>
      </p:sp>
      <p:sp>
        <p:nvSpPr>
          <p:cNvPr id="9" name="Freeform 9"/>
          <p:cNvSpPr/>
          <p:nvPr/>
        </p:nvSpPr>
        <p:spPr>
          <a:xfrm>
            <a:off x="645330" y="8997026"/>
            <a:ext cx="16997340" cy="218640"/>
          </a:xfrm>
          <a:custGeom>
            <a:avLst/>
            <a:gdLst/>
            <a:ahLst/>
            <a:cxnLst/>
            <a:rect l="l" t="t" r="r" b="b"/>
            <a:pathLst>
              <a:path w="16997340" h="218640">
                <a:moveTo>
                  <a:pt x="0" y="0"/>
                </a:moveTo>
                <a:lnTo>
                  <a:pt x="16997340" y="0"/>
                </a:lnTo>
                <a:lnTo>
                  <a:pt x="16997340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Imagen 41">
            <a:extLst>
              <a:ext uri="{FF2B5EF4-FFF2-40B4-BE49-F238E27FC236}">
                <a16:creationId xmlns:a16="http://schemas.microsoft.com/office/drawing/2014/main" id="{FD8BEBCF-5C9A-0874-E64F-FD7222B96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0" y="0"/>
            <a:ext cx="18287999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4400" y="1247421"/>
            <a:ext cx="6565392" cy="1164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762"/>
              </a:lnSpc>
            </a:pPr>
            <a:r>
              <a:rPr lang="en-US" sz="8762" b="1" spc="-175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Trazabilidad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69264" y="2505803"/>
            <a:ext cx="6035040" cy="491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5"/>
              </a:lnSpc>
            </a:pPr>
            <a:r>
              <a:rPr lang="en-US" sz="322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Línea de tiempo de una factura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084832" y="3946100"/>
            <a:ext cx="512064" cy="523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82"/>
              </a:lnSpc>
            </a:pPr>
            <a:r>
              <a:rPr lang="en-US" sz="3401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01</a:t>
            </a:r>
          </a:p>
        </p:txBody>
      </p:sp>
      <p:sp>
        <p:nvSpPr>
          <p:cNvPr id="6" name="Freeform 6"/>
          <p:cNvSpPr/>
          <p:nvPr/>
        </p:nvSpPr>
        <p:spPr>
          <a:xfrm>
            <a:off x="1520354" y="4711687"/>
            <a:ext cx="1750048" cy="1727254"/>
          </a:xfrm>
          <a:custGeom>
            <a:avLst/>
            <a:gdLst/>
            <a:ahLst/>
            <a:cxnLst/>
            <a:rect l="l" t="t" r="r" b="b"/>
            <a:pathLst>
              <a:path w="1750048" h="1727254">
                <a:moveTo>
                  <a:pt x="0" y="0"/>
                </a:moveTo>
                <a:lnTo>
                  <a:pt x="1750048" y="0"/>
                </a:lnTo>
                <a:lnTo>
                  <a:pt x="1750048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Freeform 7"/>
          <p:cNvSpPr/>
          <p:nvPr/>
        </p:nvSpPr>
        <p:spPr>
          <a:xfrm>
            <a:off x="3259464" y="5356674"/>
            <a:ext cx="1531292" cy="437279"/>
          </a:xfrm>
          <a:custGeom>
            <a:avLst/>
            <a:gdLst/>
            <a:ahLst/>
            <a:cxnLst/>
            <a:rect l="l" t="t" r="r" b="b"/>
            <a:pathLst>
              <a:path w="1531292" h="437279">
                <a:moveTo>
                  <a:pt x="0" y="0"/>
                </a:moveTo>
                <a:lnTo>
                  <a:pt x="1531292" y="0"/>
                </a:lnTo>
                <a:lnTo>
                  <a:pt x="153129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TextBox 8"/>
          <p:cNvSpPr txBox="1"/>
          <p:nvPr/>
        </p:nvSpPr>
        <p:spPr>
          <a:xfrm>
            <a:off x="2011680" y="6608192"/>
            <a:ext cx="694944" cy="424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45"/>
              </a:lnSpc>
            </a:pPr>
            <a:r>
              <a:rPr lang="en-US" sz="2788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PDF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09344" y="7799565"/>
            <a:ext cx="1499616" cy="315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0 reintentos</a:t>
            </a:r>
          </a:p>
        </p:txBody>
      </p:sp>
      <p:sp>
        <p:nvSpPr>
          <p:cNvPr id="10" name="Freeform 10"/>
          <p:cNvSpPr/>
          <p:nvPr/>
        </p:nvSpPr>
        <p:spPr>
          <a:xfrm>
            <a:off x="4779818" y="4711687"/>
            <a:ext cx="1760986" cy="1727254"/>
          </a:xfrm>
          <a:custGeom>
            <a:avLst/>
            <a:gdLst/>
            <a:ahLst/>
            <a:cxnLst/>
            <a:rect l="l" t="t" r="r" b="b"/>
            <a:pathLst>
              <a:path w="1760986" h="1727254">
                <a:moveTo>
                  <a:pt x="0" y="0"/>
                </a:moveTo>
                <a:lnTo>
                  <a:pt x="1760986" y="0"/>
                </a:lnTo>
                <a:lnTo>
                  <a:pt x="1760986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1" name="Freeform 11"/>
          <p:cNvSpPr/>
          <p:nvPr/>
        </p:nvSpPr>
        <p:spPr>
          <a:xfrm>
            <a:off x="6529866" y="5356674"/>
            <a:ext cx="1531292" cy="437279"/>
          </a:xfrm>
          <a:custGeom>
            <a:avLst/>
            <a:gdLst/>
            <a:ahLst/>
            <a:cxnLst/>
            <a:rect l="l" t="t" r="r" b="b"/>
            <a:pathLst>
              <a:path w="1531292" h="437279">
                <a:moveTo>
                  <a:pt x="0" y="0"/>
                </a:moveTo>
                <a:lnTo>
                  <a:pt x="1531292" y="0"/>
                </a:lnTo>
                <a:lnTo>
                  <a:pt x="153129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2" name="TextBox 12"/>
          <p:cNvSpPr txBox="1"/>
          <p:nvPr/>
        </p:nvSpPr>
        <p:spPr>
          <a:xfrm>
            <a:off x="5340096" y="6612251"/>
            <a:ext cx="786384" cy="426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7"/>
              </a:lnSpc>
            </a:pPr>
            <a:r>
              <a:rPr lang="en-US" sz="2823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OCR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65776" y="7799565"/>
            <a:ext cx="1316736" cy="315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1 reintento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778240" y="3978896"/>
            <a:ext cx="512064" cy="457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</a:pPr>
            <a:r>
              <a:rPr lang="en-US" sz="2971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03</a:t>
            </a:r>
          </a:p>
        </p:txBody>
      </p:sp>
      <p:sp>
        <p:nvSpPr>
          <p:cNvPr id="15" name="Freeform 15"/>
          <p:cNvSpPr/>
          <p:nvPr/>
        </p:nvSpPr>
        <p:spPr>
          <a:xfrm>
            <a:off x="8268976" y="4711687"/>
            <a:ext cx="1750048" cy="1727254"/>
          </a:xfrm>
          <a:custGeom>
            <a:avLst/>
            <a:gdLst/>
            <a:ahLst/>
            <a:cxnLst/>
            <a:rect l="l" t="t" r="r" b="b"/>
            <a:pathLst>
              <a:path w="1750048" h="1727254">
                <a:moveTo>
                  <a:pt x="0" y="0"/>
                </a:moveTo>
                <a:lnTo>
                  <a:pt x="1750048" y="0"/>
                </a:lnTo>
                <a:lnTo>
                  <a:pt x="1750048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6" name="Freeform 16"/>
          <p:cNvSpPr/>
          <p:nvPr/>
        </p:nvSpPr>
        <p:spPr>
          <a:xfrm>
            <a:off x="8487732" y="5138034"/>
            <a:ext cx="1093780" cy="863627"/>
          </a:xfrm>
          <a:custGeom>
            <a:avLst/>
            <a:gdLst/>
            <a:ahLst/>
            <a:cxnLst/>
            <a:rect l="l" t="t" r="r" b="b"/>
            <a:pathLst>
              <a:path w="1093780" h="863627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TextBox 17"/>
          <p:cNvSpPr txBox="1"/>
          <p:nvPr/>
        </p:nvSpPr>
        <p:spPr>
          <a:xfrm>
            <a:off x="8284464" y="6624590"/>
            <a:ext cx="1682496" cy="392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52"/>
              </a:lnSpc>
            </a:pPr>
            <a:r>
              <a:rPr lang="en-US" sz="2543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Validación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339328" y="7799565"/>
            <a:ext cx="1499616" cy="315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0 reintentos</a:t>
            </a:r>
          </a:p>
        </p:txBody>
      </p:sp>
      <p:sp>
        <p:nvSpPr>
          <p:cNvPr id="19" name="Freeform 19"/>
          <p:cNvSpPr/>
          <p:nvPr/>
        </p:nvSpPr>
        <p:spPr>
          <a:xfrm>
            <a:off x="11528440" y="4711687"/>
            <a:ext cx="1760986" cy="1727254"/>
          </a:xfrm>
          <a:custGeom>
            <a:avLst/>
            <a:gdLst/>
            <a:ahLst/>
            <a:cxnLst/>
            <a:rect l="l" t="t" r="r" b="b"/>
            <a:pathLst>
              <a:path w="1760986" h="1727254">
                <a:moveTo>
                  <a:pt x="0" y="0"/>
                </a:moveTo>
                <a:lnTo>
                  <a:pt x="1760986" y="0"/>
                </a:lnTo>
                <a:lnTo>
                  <a:pt x="1760986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0" name="Freeform 20"/>
          <p:cNvSpPr/>
          <p:nvPr/>
        </p:nvSpPr>
        <p:spPr>
          <a:xfrm>
            <a:off x="11965952" y="5138034"/>
            <a:ext cx="885962" cy="863627"/>
          </a:xfrm>
          <a:custGeom>
            <a:avLst/>
            <a:gdLst/>
            <a:ahLst/>
            <a:cxnLst/>
            <a:rect l="l" t="t" r="r" b="b"/>
            <a:pathLst>
              <a:path w="885962" h="863627">
                <a:moveTo>
                  <a:pt x="0" y="0"/>
                </a:moveTo>
                <a:lnTo>
                  <a:pt x="885962" y="0"/>
                </a:lnTo>
                <a:lnTo>
                  <a:pt x="885962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1" name="TextBox 21"/>
          <p:cNvSpPr txBox="1"/>
          <p:nvPr/>
        </p:nvSpPr>
        <p:spPr>
          <a:xfrm>
            <a:off x="11192256" y="6628649"/>
            <a:ext cx="2487168" cy="393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</a:pPr>
            <a:r>
              <a:rPr lang="en-US" sz="2613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Regla o modelo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015216" y="7199900"/>
            <a:ext cx="786384" cy="382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94"/>
              </a:lnSpc>
            </a:pPr>
            <a:r>
              <a:rPr lang="en-US" sz="2578" b="1">
                <a:solidFill>
                  <a:srgbClr val="D8D800"/>
                </a:solidFill>
                <a:latin typeface="Inter Bold"/>
                <a:ea typeface="Inter Bold"/>
                <a:cs typeface="Inter Bold"/>
                <a:sym typeface="Inter Bold"/>
              </a:rPr>
              <a:t>3.5 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686032" y="7799565"/>
            <a:ext cx="1499616" cy="315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2 reintentos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5489936" y="3973430"/>
            <a:ext cx="512064" cy="468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17"/>
              </a:lnSpc>
            </a:pPr>
            <a:r>
              <a:rPr lang="en-US" sz="3014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05</a:t>
            </a:r>
          </a:p>
        </p:txBody>
      </p:sp>
      <p:sp>
        <p:nvSpPr>
          <p:cNvPr id="25" name="Freeform 25"/>
          <p:cNvSpPr/>
          <p:nvPr/>
        </p:nvSpPr>
        <p:spPr>
          <a:xfrm>
            <a:off x="14798842" y="4711687"/>
            <a:ext cx="1750048" cy="1727254"/>
          </a:xfrm>
          <a:custGeom>
            <a:avLst/>
            <a:gdLst/>
            <a:ahLst/>
            <a:cxnLst/>
            <a:rect l="l" t="t" r="r" b="b"/>
            <a:pathLst>
              <a:path w="1750048" h="1727254">
                <a:moveTo>
                  <a:pt x="0" y="0"/>
                </a:moveTo>
                <a:lnTo>
                  <a:pt x="1750048" y="0"/>
                </a:lnTo>
                <a:lnTo>
                  <a:pt x="1750048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6" name="Freeform 26"/>
          <p:cNvSpPr/>
          <p:nvPr/>
        </p:nvSpPr>
        <p:spPr>
          <a:xfrm>
            <a:off x="15236354" y="5138034"/>
            <a:ext cx="1093780" cy="863627"/>
          </a:xfrm>
          <a:custGeom>
            <a:avLst/>
            <a:gdLst/>
            <a:ahLst/>
            <a:cxnLst/>
            <a:rect l="l" t="t" r="r" b="b"/>
            <a:pathLst>
              <a:path w="1093780" h="863627">
                <a:moveTo>
                  <a:pt x="0" y="0"/>
                </a:moveTo>
                <a:lnTo>
                  <a:pt x="1093780" y="0"/>
                </a:lnTo>
                <a:lnTo>
                  <a:pt x="109378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7" name="TextBox 27"/>
          <p:cNvSpPr txBox="1"/>
          <p:nvPr/>
        </p:nvSpPr>
        <p:spPr>
          <a:xfrm>
            <a:off x="14703552" y="6624590"/>
            <a:ext cx="2157984" cy="392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52"/>
              </a:lnSpc>
            </a:pPr>
            <a:r>
              <a:rPr lang="en-US" sz="2543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Decisión final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5014448" y="7799565"/>
            <a:ext cx="1499616" cy="315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06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0 reintentos</a:t>
            </a:r>
          </a:p>
        </p:txBody>
      </p:sp>
      <p:sp>
        <p:nvSpPr>
          <p:cNvPr id="29" name="Freeform 29"/>
          <p:cNvSpPr/>
          <p:nvPr/>
        </p:nvSpPr>
        <p:spPr>
          <a:xfrm>
            <a:off x="864086" y="8997026"/>
            <a:ext cx="448450" cy="437279"/>
          </a:xfrm>
          <a:custGeom>
            <a:avLst/>
            <a:gdLst/>
            <a:ahLst/>
            <a:cxnLst/>
            <a:rect l="l" t="t" r="r" b="b"/>
            <a:pathLst>
              <a:path w="448450" h="437279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0" name="TextBox 30"/>
          <p:cNvSpPr txBox="1"/>
          <p:nvPr/>
        </p:nvSpPr>
        <p:spPr>
          <a:xfrm>
            <a:off x="1444752" y="9073746"/>
            <a:ext cx="658368" cy="327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7"/>
              </a:lnSpc>
            </a:pPr>
            <a:r>
              <a:rPr lang="en-US" sz="2197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Éxito</a:t>
            </a:r>
          </a:p>
        </p:txBody>
      </p:sp>
      <p:sp>
        <p:nvSpPr>
          <p:cNvPr id="31" name="Freeform 31"/>
          <p:cNvSpPr/>
          <p:nvPr/>
        </p:nvSpPr>
        <p:spPr>
          <a:xfrm>
            <a:off x="2603196" y="8997026"/>
            <a:ext cx="667206" cy="437279"/>
          </a:xfrm>
          <a:custGeom>
            <a:avLst/>
            <a:gdLst/>
            <a:ahLst/>
            <a:cxnLst/>
            <a:rect l="l" t="t" r="r" b="b"/>
            <a:pathLst>
              <a:path w="667206" h="437279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2" name="TextBox 32"/>
          <p:cNvSpPr txBox="1"/>
          <p:nvPr/>
        </p:nvSpPr>
        <p:spPr>
          <a:xfrm>
            <a:off x="3236976" y="9069687"/>
            <a:ext cx="1133856" cy="326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44"/>
              </a:lnSpc>
            </a:pPr>
            <a:r>
              <a:rPr lang="en-US" sz="2120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Atención</a:t>
            </a:r>
          </a:p>
        </p:txBody>
      </p:sp>
      <p:sp>
        <p:nvSpPr>
          <p:cNvPr id="33" name="Freeform 33"/>
          <p:cNvSpPr/>
          <p:nvPr/>
        </p:nvSpPr>
        <p:spPr>
          <a:xfrm>
            <a:off x="4998574" y="8997026"/>
            <a:ext cx="448450" cy="437279"/>
          </a:xfrm>
          <a:custGeom>
            <a:avLst/>
            <a:gdLst/>
            <a:ahLst/>
            <a:cxnLst/>
            <a:rect l="l" t="t" r="r" b="b"/>
            <a:pathLst>
              <a:path w="448450" h="437279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4" name="TextBox 34"/>
          <p:cNvSpPr txBox="1"/>
          <p:nvPr/>
        </p:nvSpPr>
        <p:spPr>
          <a:xfrm>
            <a:off x="5522976" y="9062814"/>
            <a:ext cx="694944" cy="349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299">
                <a:solidFill>
                  <a:srgbClr val="003922"/>
                </a:solidFill>
                <a:latin typeface="Inter"/>
                <a:ea typeface="Inter"/>
                <a:cs typeface="Inter"/>
                <a:sym typeface="Inter"/>
              </a:rPr>
              <a:t>Error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413248" y="3982955"/>
            <a:ext cx="512064" cy="4591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68"/>
              </a:lnSpc>
            </a:pPr>
            <a:r>
              <a:rPr lang="en-US" sz="3057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02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2124944" y="3984362"/>
            <a:ext cx="512064" cy="446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13"/>
              </a:lnSpc>
            </a:pPr>
            <a:r>
              <a:rPr lang="en-US" sz="2928" b="1">
                <a:solidFill>
                  <a:srgbClr val="003922"/>
                </a:solidFill>
                <a:latin typeface="Inter Bold"/>
                <a:ea typeface="Inter Bold"/>
                <a:cs typeface="Inter Bold"/>
                <a:sym typeface="Inter Bold"/>
              </a:rPr>
              <a:t>04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956816" y="7173977"/>
            <a:ext cx="786384" cy="424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45"/>
              </a:lnSpc>
            </a:pPr>
            <a:r>
              <a:rPr lang="en-US" sz="2788" b="1">
                <a:solidFill>
                  <a:srgbClr val="219B6E"/>
                </a:solidFill>
                <a:latin typeface="Inter Bold"/>
                <a:ea typeface="Inter Bold"/>
                <a:cs typeface="Inter Bold"/>
                <a:sym typeface="Inter Bold"/>
              </a:rPr>
              <a:t>1.2 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285232" y="7199900"/>
            <a:ext cx="786384" cy="382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94"/>
              </a:lnSpc>
            </a:pPr>
            <a:r>
              <a:rPr lang="en-US" sz="2578" b="1">
                <a:solidFill>
                  <a:srgbClr val="219B6E"/>
                </a:solidFill>
                <a:latin typeface="Inter Bold"/>
                <a:ea typeface="Inter Bold"/>
                <a:cs typeface="Inter Bold"/>
                <a:sym typeface="Inter Bold"/>
              </a:rPr>
              <a:t>2.8 s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686800" y="7173977"/>
            <a:ext cx="786384" cy="424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3"/>
              </a:lnSpc>
            </a:pPr>
            <a:r>
              <a:rPr lang="en-US" sz="2753" b="1">
                <a:solidFill>
                  <a:srgbClr val="219B6E"/>
                </a:solidFill>
                <a:latin typeface="Inter Bold"/>
                <a:ea typeface="Inter Bold"/>
                <a:cs typeface="Inter Bold"/>
                <a:sym typeface="Inter Bold"/>
              </a:rPr>
              <a:t>1.6 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5361920" y="7195841"/>
            <a:ext cx="786384" cy="381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0"/>
              </a:lnSpc>
            </a:pPr>
            <a:r>
              <a:rPr lang="en-US" sz="2508" b="1">
                <a:solidFill>
                  <a:srgbClr val="219B6E"/>
                </a:solidFill>
                <a:latin typeface="Inter Bold"/>
                <a:ea typeface="Inter Bold"/>
                <a:cs typeface="Inter Bold"/>
                <a:sym typeface="Inter Bold"/>
              </a:rPr>
              <a:t>0.9 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agen 23">
            <a:extLst>
              <a:ext uri="{FF2B5EF4-FFF2-40B4-BE49-F238E27FC236}">
                <a16:creationId xmlns:a16="http://schemas.microsoft.com/office/drawing/2014/main" id="{20CBA95F-BE40-19D4-9A3C-F5AD131891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466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41248" y="1064036"/>
            <a:ext cx="6949440" cy="1039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06"/>
              </a:lnSpc>
            </a:pPr>
            <a:r>
              <a:rPr lang="en-US" sz="7806" b="1">
                <a:solidFill>
                  <a:srgbClr val="0B4B39"/>
                </a:solidFill>
                <a:latin typeface="Inter Bold"/>
                <a:ea typeface="Inter Bold"/>
                <a:cs typeface="Inter Bold"/>
                <a:sym typeface="Inter Bold"/>
              </a:rPr>
              <a:t>Escala y coste</a:t>
            </a:r>
          </a:p>
        </p:txBody>
      </p:sp>
      <p:sp>
        <p:nvSpPr>
          <p:cNvPr id="4" name="Freeform 4"/>
          <p:cNvSpPr/>
          <p:nvPr/>
        </p:nvSpPr>
        <p:spPr>
          <a:xfrm>
            <a:off x="645330" y="3214004"/>
            <a:ext cx="4801694" cy="6220301"/>
          </a:xfrm>
          <a:custGeom>
            <a:avLst/>
            <a:gdLst/>
            <a:ahLst/>
            <a:cxnLst/>
            <a:rect l="l" t="t" r="r" b="b"/>
            <a:pathLst>
              <a:path w="4801694" h="6220301">
                <a:moveTo>
                  <a:pt x="0" y="0"/>
                </a:moveTo>
                <a:lnTo>
                  <a:pt x="4801694" y="0"/>
                </a:lnTo>
                <a:lnTo>
                  <a:pt x="4801694" y="6220301"/>
                </a:lnTo>
                <a:lnTo>
                  <a:pt x="0" y="62203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TextBox 5"/>
          <p:cNvSpPr txBox="1"/>
          <p:nvPr/>
        </p:nvSpPr>
        <p:spPr>
          <a:xfrm>
            <a:off x="1371600" y="4029021"/>
            <a:ext cx="2999232" cy="790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2"/>
              </a:lnSpc>
            </a:pPr>
            <a:r>
              <a:rPr lang="en-US" sz="2497" b="1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Capacidad (facturas por hora)</a:t>
            </a:r>
          </a:p>
        </p:txBody>
      </p:sp>
      <p:sp>
        <p:nvSpPr>
          <p:cNvPr id="6" name="Freeform 6"/>
          <p:cNvSpPr/>
          <p:nvPr/>
        </p:nvSpPr>
        <p:spPr>
          <a:xfrm>
            <a:off x="1082842" y="5138034"/>
            <a:ext cx="3926670" cy="229572"/>
          </a:xfrm>
          <a:custGeom>
            <a:avLst/>
            <a:gdLst/>
            <a:ahLst/>
            <a:cxnLst/>
            <a:rect l="l" t="t" r="r" b="b"/>
            <a:pathLst>
              <a:path w="3926670" h="229572">
                <a:moveTo>
                  <a:pt x="0" y="0"/>
                </a:moveTo>
                <a:lnTo>
                  <a:pt x="3926670" y="0"/>
                </a:lnTo>
                <a:lnTo>
                  <a:pt x="3926670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TextBox 7"/>
          <p:cNvSpPr txBox="1"/>
          <p:nvPr/>
        </p:nvSpPr>
        <p:spPr>
          <a:xfrm>
            <a:off x="1371600" y="5838316"/>
            <a:ext cx="1700784" cy="854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04"/>
              </a:lnSpc>
            </a:pPr>
            <a:r>
              <a:rPr lang="en-US" sz="2723" b="1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Hardware utilizado</a:t>
            </a:r>
          </a:p>
        </p:txBody>
      </p:sp>
      <p:sp>
        <p:nvSpPr>
          <p:cNvPr id="8" name="Freeform 8"/>
          <p:cNvSpPr/>
          <p:nvPr/>
        </p:nvSpPr>
        <p:spPr>
          <a:xfrm>
            <a:off x="1082842" y="7062064"/>
            <a:ext cx="3926670" cy="229572"/>
          </a:xfrm>
          <a:custGeom>
            <a:avLst/>
            <a:gdLst/>
            <a:ahLst/>
            <a:cxnLst/>
            <a:rect l="l" t="t" r="r" b="b"/>
            <a:pathLst>
              <a:path w="3926670" h="229572">
                <a:moveTo>
                  <a:pt x="0" y="0"/>
                </a:moveTo>
                <a:lnTo>
                  <a:pt x="3926670" y="0"/>
                </a:lnTo>
                <a:lnTo>
                  <a:pt x="3926670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9" name="TextBox 9"/>
          <p:cNvSpPr txBox="1"/>
          <p:nvPr/>
        </p:nvSpPr>
        <p:spPr>
          <a:xfrm>
            <a:off x="1371600" y="7803573"/>
            <a:ext cx="3218688" cy="83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23"/>
              </a:lnSpc>
            </a:pPr>
            <a:r>
              <a:rPr lang="en-US" sz="2659" b="1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Fórmula o coste unitario por factura</a:t>
            </a:r>
          </a:p>
        </p:txBody>
      </p:sp>
      <p:sp>
        <p:nvSpPr>
          <p:cNvPr id="10" name="Freeform 10"/>
          <p:cNvSpPr/>
          <p:nvPr/>
        </p:nvSpPr>
        <p:spPr>
          <a:xfrm>
            <a:off x="5217330" y="2569017"/>
            <a:ext cx="11769072" cy="1082267"/>
          </a:xfrm>
          <a:custGeom>
            <a:avLst/>
            <a:gdLst/>
            <a:ahLst/>
            <a:cxnLst/>
            <a:rect l="l" t="t" r="r" b="b"/>
            <a:pathLst>
              <a:path w="11769072" h="1082267">
                <a:moveTo>
                  <a:pt x="0" y="0"/>
                </a:moveTo>
                <a:lnTo>
                  <a:pt x="11769072" y="0"/>
                </a:lnTo>
                <a:lnTo>
                  <a:pt x="11769072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1" name="TextBox 11"/>
          <p:cNvSpPr txBox="1"/>
          <p:nvPr/>
        </p:nvSpPr>
        <p:spPr>
          <a:xfrm>
            <a:off x="7534656" y="2793417"/>
            <a:ext cx="1316736" cy="487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03"/>
              </a:lnSpc>
            </a:pPr>
            <a:r>
              <a:rPr lang="en-US" sz="2788" b="1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Medido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0784" y="2807964"/>
            <a:ext cx="1609344" cy="468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54"/>
              </a:lnSpc>
            </a:pPr>
            <a:r>
              <a:rPr lang="en-US" sz="2753" b="1">
                <a:solidFill>
                  <a:srgbClr val="FFF9F0"/>
                </a:solidFill>
                <a:latin typeface="Inter Bold"/>
                <a:ea typeface="Inter Bold"/>
                <a:cs typeface="Inter Bold"/>
                <a:sym typeface="Inter Bold"/>
              </a:rPr>
              <a:t>Estimado</a:t>
            </a:r>
          </a:p>
        </p:txBody>
      </p:sp>
      <p:sp>
        <p:nvSpPr>
          <p:cNvPr id="13" name="Freeform 13"/>
          <p:cNvSpPr/>
          <p:nvPr/>
        </p:nvSpPr>
        <p:spPr>
          <a:xfrm>
            <a:off x="5217330" y="3421712"/>
            <a:ext cx="11769072" cy="6012593"/>
          </a:xfrm>
          <a:custGeom>
            <a:avLst/>
            <a:gdLst/>
            <a:ahLst/>
            <a:cxnLst/>
            <a:rect l="l" t="t" r="r" b="b"/>
            <a:pathLst>
              <a:path w="11769072" h="6012593">
                <a:moveTo>
                  <a:pt x="0" y="0"/>
                </a:moveTo>
                <a:lnTo>
                  <a:pt x="11769072" y="0"/>
                </a:lnTo>
                <a:lnTo>
                  <a:pt x="11769072" y="6012593"/>
                </a:lnTo>
                <a:lnTo>
                  <a:pt x="0" y="601259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4" name="Freeform 14"/>
          <p:cNvSpPr/>
          <p:nvPr/>
        </p:nvSpPr>
        <p:spPr>
          <a:xfrm>
            <a:off x="5654842" y="5138034"/>
            <a:ext cx="10894048" cy="229572"/>
          </a:xfrm>
          <a:custGeom>
            <a:avLst/>
            <a:gdLst/>
            <a:ahLst/>
            <a:cxnLst/>
            <a:rect l="l" t="t" r="r" b="b"/>
            <a:pathLst>
              <a:path w="10894048" h="229572">
                <a:moveTo>
                  <a:pt x="0" y="0"/>
                </a:moveTo>
                <a:lnTo>
                  <a:pt x="10894048" y="0"/>
                </a:lnTo>
                <a:lnTo>
                  <a:pt x="1089404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6419088" y="5838213"/>
            <a:ext cx="3547872" cy="854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4"/>
              </a:lnSpc>
            </a:pPr>
            <a:r>
              <a:rPr lang="en-US" sz="2691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1 servidor</a:t>
            </a:r>
          </a:p>
          <a:p>
            <a:pPr algn="ctr">
              <a:lnSpc>
                <a:spcPts val="3364"/>
              </a:lnSpc>
            </a:pPr>
            <a:r>
              <a:rPr lang="en-US" sz="2691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(8 vCPU, 32 GB RAM)</a:t>
            </a:r>
          </a:p>
        </p:txBody>
      </p:sp>
      <p:sp>
        <p:nvSpPr>
          <p:cNvPr id="16" name="Freeform 16"/>
          <p:cNvSpPr/>
          <p:nvPr/>
        </p:nvSpPr>
        <p:spPr>
          <a:xfrm>
            <a:off x="5654842" y="7062064"/>
            <a:ext cx="10894048" cy="229572"/>
          </a:xfrm>
          <a:custGeom>
            <a:avLst/>
            <a:gdLst/>
            <a:ahLst/>
            <a:cxnLst/>
            <a:rect l="l" t="t" r="r" b="b"/>
            <a:pathLst>
              <a:path w="10894048" h="229572">
                <a:moveTo>
                  <a:pt x="0" y="0"/>
                </a:moveTo>
                <a:lnTo>
                  <a:pt x="10894048" y="0"/>
                </a:lnTo>
                <a:lnTo>
                  <a:pt x="10894048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TextBox 17"/>
          <p:cNvSpPr txBox="1"/>
          <p:nvPr/>
        </p:nvSpPr>
        <p:spPr>
          <a:xfrm>
            <a:off x="6473952" y="7792846"/>
            <a:ext cx="3438144" cy="854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</a:pPr>
            <a:r>
              <a:rPr lang="en-US" sz="2723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Coste total /</a:t>
            </a:r>
          </a:p>
          <a:p>
            <a:pPr algn="ctr">
              <a:lnSpc>
                <a:spcPts val="3404"/>
              </a:lnSpc>
            </a:pPr>
            <a:r>
              <a:rPr lang="en-US" sz="2723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facturas procesadas</a:t>
            </a:r>
          </a:p>
        </p:txBody>
      </p:sp>
      <p:sp>
        <p:nvSpPr>
          <p:cNvPr id="18" name="Freeform 18"/>
          <p:cNvSpPr/>
          <p:nvPr/>
        </p:nvSpPr>
        <p:spPr>
          <a:xfrm>
            <a:off x="10883110" y="3640352"/>
            <a:ext cx="229694" cy="5367606"/>
          </a:xfrm>
          <a:custGeom>
            <a:avLst/>
            <a:gdLst/>
            <a:ahLst/>
            <a:cxnLst/>
            <a:rect l="l" t="t" r="r" b="b"/>
            <a:pathLst>
              <a:path w="229694" h="5367606">
                <a:moveTo>
                  <a:pt x="0" y="0"/>
                </a:moveTo>
                <a:lnTo>
                  <a:pt x="229694" y="0"/>
                </a:lnTo>
                <a:lnTo>
                  <a:pt x="229694" y="5367605"/>
                </a:lnTo>
                <a:lnTo>
                  <a:pt x="0" y="53676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9" name="TextBox 19"/>
          <p:cNvSpPr txBox="1"/>
          <p:nvPr/>
        </p:nvSpPr>
        <p:spPr>
          <a:xfrm>
            <a:off x="7845552" y="4164480"/>
            <a:ext cx="694944" cy="45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16"/>
              </a:lnSpc>
            </a:pPr>
            <a:r>
              <a:rPr lang="en-US" sz="2893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500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710160" y="4179138"/>
            <a:ext cx="2450592" cy="4386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85"/>
              </a:lnSpc>
            </a:pPr>
            <a:r>
              <a:rPr lang="en-US" sz="2788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[COMPLETAR]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710160" y="6082233"/>
            <a:ext cx="2450592" cy="4386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85"/>
              </a:lnSpc>
            </a:pPr>
            <a:r>
              <a:rPr lang="en-US" sz="2788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[COMPLETAR]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710160" y="8026476"/>
            <a:ext cx="2450592" cy="4386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85"/>
              </a:lnSpc>
            </a:pPr>
            <a:r>
              <a:rPr lang="en-US" sz="2788">
                <a:solidFill>
                  <a:srgbClr val="028B61"/>
                </a:solidFill>
                <a:latin typeface="Inter"/>
                <a:ea typeface="Inter"/>
                <a:cs typeface="Inter"/>
                <a:sym typeface="Inter"/>
              </a:rPr>
              <a:t>[COMPLETAR]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EDEB7A4E-B7E8-91C0-0A6A-2C4AC13588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354" y="0"/>
            <a:ext cx="18316353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1353312" y="1530504"/>
            <a:ext cx="6583680" cy="1368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21"/>
              </a:lnSpc>
            </a:pPr>
            <a:r>
              <a:rPr lang="en-US" sz="10221" b="1" spc="-204">
                <a:solidFill>
                  <a:srgbClr val="00503F"/>
                </a:solidFill>
                <a:latin typeface="Inter Bold"/>
                <a:ea typeface="Inter Bold"/>
                <a:cs typeface="Inter Bold"/>
                <a:sym typeface="Inter Bold"/>
              </a:rPr>
              <a:t>Resiliencia</a:t>
            </a:r>
          </a:p>
        </p:txBody>
      </p:sp>
      <p:sp>
        <p:nvSpPr>
          <p:cNvPr id="4" name="Freeform 4"/>
          <p:cNvSpPr/>
          <p:nvPr/>
        </p:nvSpPr>
        <p:spPr>
          <a:xfrm>
            <a:off x="1082842" y="6854356"/>
            <a:ext cx="7634584" cy="218640"/>
          </a:xfrm>
          <a:custGeom>
            <a:avLst/>
            <a:gdLst/>
            <a:ahLst/>
            <a:cxnLst/>
            <a:rect l="l" t="t" r="r" b="b"/>
            <a:pathLst>
              <a:path w="7634584" h="218640">
                <a:moveTo>
                  <a:pt x="0" y="0"/>
                </a:moveTo>
                <a:lnTo>
                  <a:pt x="7634584" y="0"/>
                </a:lnTo>
                <a:lnTo>
                  <a:pt x="7634584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Freeform 5"/>
          <p:cNvSpPr/>
          <p:nvPr/>
        </p:nvSpPr>
        <p:spPr>
          <a:xfrm>
            <a:off x="8925244" y="2776725"/>
            <a:ext cx="9362756" cy="7083928"/>
          </a:xfrm>
          <a:custGeom>
            <a:avLst/>
            <a:gdLst/>
            <a:ahLst/>
            <a:cxnLst/>
            <a:rect l="l" t="t" r="r" b="b"/>
            <a:pathLst>
              <a:path w="9362756" h="7083928">
                <a:moveTo>
                  <a:pt x="0" y="0"/>
                </a:moveTo>
                <a:lnTo>
                  <a:pt x="9362756" y="0"/>
                </a:lnTo>
                <a:lnTo>
                  <a:pt x="9362756" y="7083927"/>
                </a:lnTo>
                <a:lnTo>
                  <a:pt x="0" y="70839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TextBox 6"/>
          <p:cNvSpPr txBox="1"/>
          <p:nvPr/>
        </p:nvSpPr>
        <p:spPr>
          <a:xfrm>
            <a:off x="1353312" y="3324307"/>
            <a:ext cx="6364224" cy="286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86"/>
              </a:lnSpc>
            </a:pP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Estado </a:t>
            </a:r>
            <a:r>
              <a:rPr lang="en-US" sz="2893" b="1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conservado</a:t>
            </a: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ante fallos</a:t>
            </a:r>
          </a:p>
          <a:p>
            <a:pPr algn="l">
              <a:lnSpc>
                <a:spcPts val="5786"/>
              </a:lnSpc>
            </a:pPr>
            <a:r>
              <a:rPr lang="en-US" sz="2893" b="1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Sin duplicados</a:t>
            </a: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ni pérdida de datos</a:t>
            </a:r>
          </a:p>
          <a:p>
            <a:pPr algn="l">
              <a:lnSpc>
                <a:spcPts val="5786"/>
              </a:lnSpc>
            </a:pP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Degradación </a:t>
            </a:r>
            <a:r>
              <a:rPr lang="en-US" sz="2893" b="1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controlada</a:t>
            </a: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del servicio</a:t>
            </a:r>
          </a:p>
          <a:p>
            <a:pPr algn="l">
              <a:lnSpc>
                <a:spcPts val="5786"/>
              </a:lnSpc>
            </a:pPr>
            <a:r>
              <a:rPr lang="en-US" sz="2893" b="1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Recuperación</a:t>
            </a:r>
            <a:r>
              <a:rPr lang="en-US" sz="289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automática y segura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53312" y="7526803"/>
            <a:ext cx="7498080" cy="1181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29"/>
              </a:lnSpc>
            </a:pPr>
            <a:r>
              <a:rPr lang="en-US" sz="2683" b="1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Lote 2: </a:t>
            </a:r>
            <a:r>
              <a:rPr lang="en-US" sz="268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+40 facturas, ERP actualizado</a:t>
            </a:r>
          </a:p>
          <a:p>
            <a:pPr algn="l">
              <a:lnSpc>
                <a:spcPts val="4829"/>
              </a:lnSpc>
            </a:pPr>
            <a:r>
              <a:rPr lang="en-US" sz="268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Reprocesa decisiones y </a:t>
            </a:r>
            <a:r>
              <a:rPr lang="en-US" sz="2683" b="1">
                <a:solidFill>
                  <a:srgbClr val="C7D90D"/>
                </a:solidFill>
                <a:latin typeface="Inter Bold"/>
                <a:ea typeface="Inter Bold"/>
                <a:cs typeface="Inter Bold"/>
                <a:sym typeface="Inter Bold"/>
              </a:rPr>
              <a:t>se integra</a:t>
            </a:r>
            <a:r>
              <a:rPr lang="en-US" sz="2683">
                <a:solidFill>
                  <a:srgbClr val="00503F"/>
                </a:solidFill>
                <a:latin typeface="Inter"/>
                <a:ea typeface="Inter"/>
                <a:cs typeface="Inter"/>
                <a:sym typeface="Inter"/>
              </a:rPr>
              <a:t> sin fricción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n 25">
            <a:extLst>
              <a:ext uri="{FF2B5EF4-FFF2-40B4-BE49-F238E27FC236}">
                <a16:creationId xmlns:a16="http://schemas.microsoft.com/office/drawing/2014/main" id="{1439F577-A168-38D2-AEF0-93AC29269A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576" y="9747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114032" y="399872"/>
            <a:ext cx="4059936" cy="16493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43"/>
              </a:lnSpc>
            </a:pPr>
            <a:r>
              <a:rPr lang="en-US" sz="10702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Cierre</a:t>
            </a:r>
          </a:p>
        </p:txBody>
      </p:sp>
      <p:sp>
        <p:nvSpPr>
          <p:cNvPr id="4" name="Freeform 4"/>
          <p:cNvSpPr/>
          <p:nvPr/>
        </p:nvSpPr>
        <p:spPr>
          <a:xfrm>
            <a:off x="5654842" y="2142670"/>
            <a:ext cx="6978316" cy="218640"/>
          </a:xfrm>
          <a:custGeom>
            <a:avLst/>
            <a:gdLst/>
            <a:ahLst/>
            <a:cxnLst/>
            <a:rect l="l" t="t" r="r" b="b"/>
            <a:pathLst>
              <a:path w="6978316" h="218640">
                <a:moveTo>
                  <a:pt x="0" y="0"/>
                </a:moveTo>
                <a:lnTo>
                  <a:pt x="6978316" y="0"/>
                </a:lnTo>
                <a:lnTo>
                  <a:pt x="6978316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" name="TextBox 5"/>
          <p:cNvSpPr txBox="1"/>
          <p:nvPr/>
        </p:nvSpPr>
        <p:spPr>
          <a:xfrm>
            <a:off x="6126480" y="2539244"/>
            <a:ext cx="6108192" cy="404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68"/>
              </a:lnSpc>
            </a:pPr>
            <a:r>
              <a:rPr lang="en-US" sz="2723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Lo esencial que nos lleva adelante</a:t>
            </a:r>
          </a:p>
        </p:txBody>
      </p:sp>
      <p:sp>
        <p:nvSpPr>
          <p:cNvPr id="6" name="Freeform 6"/>
          <p:cNvSpPr/>
          <p:nvPr/>
        </p:nvSpPr>
        <p:spPr>
          <a:xfrm>
            <a:off x="1739110" y="3421712"/>
            <a:ext cx="4582938" cy="2798589"/>
          </a:xfrm>
          <a:custGeom>
            <a:avLst/>
            <a:gdLst/>
            <a:ahLst/>
            <a:cxnLst/>
            <a:rect l="l" t="t" r="r" b="b"/>
            <a:pathLst>
              <a:path w="4582938" h="2798589">
                <a:moveTo>
                  <a:pt x="0" y="0"/>
                </a:moveTo>
                <a:lnTo>
                  <a:pt x="4582938" y="0"/>
                </a:lnTo>
                <a:lnTo>
                  <a:pt x="4582938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TextBox 7"/>
          <p:cNvSpPr txBox="1"/>
          <p:nvPr/>
        </p:nvSpPr>
        <p:spPr>
          <a:xfrm>
            <a:off x="2267712" y="3736763"/>
            <a:ext cx="1115568" cy="11683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59"/>
              </a:lnSpc>
            </a:pPr>
            <a:r>
              <a:rPr lang="en-US" sz="7632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267712" y="5001384"/>
            <a:ext cx="3566160" cy="2842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0"/>
              </a:lnSpc>
            </a:pPr>
            <a:r>
              <a:rPr lang="en-US" sz="1900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Resolvemos un problema real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267712" y="5466029"/>
            <a:ext cx="2706624" cy="260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8"/>
              </a:lnSpc>
            </a:pPr>
            <a:r>
              <a:rPr lang="en-US" sz="1690">
                <a:solidFill>
                  <a:srgbClr val="134937"/>
                </a:solidFill>
                <a:latin typeface="Inter Light"/>
                <a:ea typeface="Inter Light"/>
                <a:cs typeface="Inter Light"/>
                <a:sym typeface="Inter Light"/>
              </a:rPr>
              <a:t>Simplificamos lo complejo.</a:t>
            </a:r>
          </a:p>
        </p:txBody>
      </p:sp>
      <p:sp>
        <p:nvSpPr>
          <p:cNvPr id="10" name="Freeform 10"/>
          <p:cNvSpPr/>
          <p:nvPr/>
        </p:nvSpPr>
        <p:spPr>
          <a:xfrm>
            <a:off x="6956440" y="3421712"/>
            <a:ext cx="4582938" cy="2798589"/>
          </a:xfrm>
          <a:custGeom>
            <a:avLst/>
            <a:gdLst/>
            <a:ahLst/>
            <a:cxnLst/>
            <a:rect l="l" t="t" r="r" b="b"/>
            <a:pathLst>
              <a:path w="4582938" h="2798589">
                <a:moveTo>
                  <a:pt x="0" y="0"/>
                </a:moveTo>
                <a:lnTo>
                  <a:pt x="4582938" y="0"/>
                </a:lnTo>
                <a:lnTo>
                  <a:pt x="4582938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1" name="TextBox 11"/>
          <p:cNvSpPr txBox="1"/>
          <p:nvPr/>
        </p:nvSpPr>
        <p:spPr>
          <a:xfrm>
            <a:off x="7424928" y="3714899"/>
            <a:ext cx="1298448" cy="1212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506"/>
              </a:lnSpc>
            </a:pPr>
            <a:r>
              <a:rPr lang="en-US" sz="7922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02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24928" y="4970523"/>
            <a:ext cx="3584448" cy="2842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0"/>
              </a:lnSpc>
            </a:pPr>
            <a:r>
              <a:rPr lang="en-US" sz="1900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Decisiones basadas en datos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424928" y="5445455"/>
            <a:ext cx="3108960" cy="260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8"/>
              </a:lnSpc>
            </a:pPr>
            <a:r>
              <a:rPr lang="en-US" sz="1690">
                <a:solidFill>
                  <a:srgbClr val="134937"/>
                </a:solidFill>
                <a:latin typeface="Inter Light"/>
                <a:ea typeface="Inter Light"/>
                <a:cs typeface="Inter Light"/>
                <a:sym typeface="Inter Light"/>
              </a:rPr>
              <a:t>Menos tiempo, más precisión.</a:t>
            </a:r>
          </a:p>
        </p:txBody>
      </p:sp>
      <p:sp>
        <p:nvSpPr>
          <p:cNvPr id="14" name="Freeform 14"/>
          <p:cNvSpPr/>
          <p:nvPr/>
        </p:nvSpPr>
        <p:spPr>
          <a:xfrm>
            <a:off x="12184708" y="3421712"/>
            <a:ext cx="4582938" cy="2798589"/>
          </a:xfrm>
          <a:custGeom>
            <a:avLst/>
            <a:gdLst/>
            <a:ahLst/>
            <a:cxnLst/>
            <a:rect l="l" t="t" r="r" b="b"/>
            <a:pathLst>
              <a:path w="4582938" h="2798589">
                <a:moveTo>
                  <a:pt x="0" y="0"/>
                </a:moveTo>
                <a:lnTo>
                  <a:pt x="4582938" y="0"/>
                </a:lnTo>
                <a:lnTo>
                  <a:pt x="4582938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2801600" y="3740822"/>
            <a:ext cx="1298448" cy="1169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98"/>
              </a:lnSpc>
            </a:pPr>
            <a:r>
              <a:rPr lang="en-US" sz="7748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03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01600" y="4970523"/>
            <a:ext cx="2578608" cy="2842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0"/>
              </a:lnSpc>
            </a:pPr>
            <a:r>
              <a:rPr lang="en-US" sz="1900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Valor para el negocio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801600" y="5445455"/>
            <a:ext cx="3310128" cy="260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8"/>
              </a:lnSpc>
            </a:pPr>
            <a:r>
              <a:rPr lang="en-US" sz="1690">
                <a:solidFill>
                  <a:srgbClr val="134937"/>
                </a:solidFill>
                <a:latin typeface="Inter Light"/>
                <a:ea typeface="Inter Light"/>
                <a:cs typeface="Inter Light"/>
                <a:sym typeface="Inter Light"/>
              </a:rPr>
              <a:t>Impacto medible y sostenible.</a:t>
            </a:r>
          </a:p>
        </p:txBody>
      </p:sp>
      <p:sp>
        <p:nvSpPr>
          <p:cNvPr id="18" name="Freeform 18"/>
          <p:cNvSpPr/>
          <p:nvPr/>
        </p:nvSpPr>
        <p:spPr>
          <a:xfrm>
            <a:off x="3259464" y="6428009"/>
            <a:ext cx="11769072" cy="218640"/>
          </a:xfrm>
          <a:custGeom>
            <a:avLst/>
            <a:gdLst/>
            <a:ahLst/>
            <a:cxnLst/>
            <a:rect l="l" t="t" r="r" b="b"/>
            <a:pathLst>
              <a:path w="11769072" h="218640">
                <a:moveTo>
                  <a:pt x="0" y="0"/>
                </a:moveTo>
                <a:lnTo>
                  <a:pt x="11769072" y="0"/>
                </a:lnTo>
                <a:lnTo>
                  <a:pt x="11769072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9" name="TextBox 19"/>
          <p:cNvSpPr txBox="1"/>
          <p:nvPr/>
        </p:nvSpPr>
        <p:spPr>
          <a:xfrm>
            <a:off x="3566160" y="6943692"/>
            <a:ext cx="2505456" cy="349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299" b="1">
                <a:solidFill>
                  <a:srgbClr val="134937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Mejora adicional: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47104" y="6921506"/>
            <a:ext cx="8247888" cy="404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8"/>
              </a:lnSpc>
            </a:pPr>
            <a:r>
              <a:rPr lang="en-US" sz="2723" b="1">
                <a:solidFill>
                  <a:srgbClr val="00A66B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Automatización inteligente de alertas de pago</a:t>
            </a:r>
          </a:p>
        </p:txBody>
      </p:sp>
      <p:sp>
        <p:nvSpPr>
          <p:cNvPr id="21" name="Freeform 21"/>
          <p:cNvSpPr/>
          <p:nvPr/>
        </p:nvSpPr>
        <p:spPr>
          <a:xfrm>
            <a:off x="3259464" y="7499343"/>
            <a:ext cx="11769072" cy="218640"/>
          </a:xfrm>
          <a:custGeom>
            <a:avLst/>
            <a:gdLst/>
            <a:ahLst/>
            <a:cxnLst/>
            <a:rect l="l" t="t" r="r" b="b"/>
            <a:pathLst>
              <a:path w="11769072" h="218640">
                <a:moveTo>
                  <a:pt x="0" y="0"/>
                </a:moveTo>
                <a:lnTo>
                  <a:pt x="11769072" y="0"/>
                </a:lnTo>
                <a:lnTo>
                  <a:pt x="11769072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2" name="Freeform 22"/>
          <p:cNvSpPr/>
          <p:nvPr/>
        </p:nvSpPr>
        <p:spPr>
          <a:xfrm>
            <a:off x="1957866" y="7925691"/>
            <a:ext cx="14372268" cy="1934962"/>
          </a:xfrm>
          <a:custGeom>
            <a:avLst/>
            <a:gdLst/>
            <a:ahLst/>
            <a:cxnLst/>
            <a:rect l="l" t="t" r="r" b="b"/>
            <a:pathLst>
              <a:path w="14372268" h="1934962">
                <a:moveTo>
                  <a:pt x="0" y="0"/>
                </a:moveTo>
                <a:lnTo>
                  <a:pt x="14372268" y="0"/>
                </a:lnTo>
                <a:lnTo>
                  <a:pt x="14372268" y="1934961"/>
                </a:lnTo>
                <a:lnTo>
                  <a:pt x="0" y="193496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3" name="TextBox 23"/>
          <p:cNvSpPr txBox="1"/>
          <p:nvPr/>
        </p:nvSpPr>
        <p:spPr>
          <a:xfrm>
            <a:off x="2779776" y="8413121"/>
            <a:ext cx="12728448" cy="404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68"/>
              </a:lnSpc>
            </a:pPr>
            <a:r>
              <a:rPr lang="en-US" sz="2723" b="1">
                <a:solidFill>
                  <a:srgbClr val="F4F4F4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Menos esfuerzo manual. Decisiones más rápidas. Mejores resultados.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389120" y="8999480"/>
            <a:ext cx="9491472" cy="404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68"/>
              </a:lnSpc>
            </a:pPr>
            <a:r>
              <a:rPr lang="en-US" sz="2723">
                <a:solidFill>
                  <a:srgbClr val="D2E037"/>
                </a:solidFill>
                <a:latin typeface="Inter"/>
                <a:ea typeface="Inter"/>
                <a:cs typeface="Inter"/>
                <a:sym typeface="Inter"/>
              </a:rPr>
              <a:t>Sigamos construyendo el futuro de la gestión financiera.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594E64C3763144D90A879E76CEB30EE" ma:contentTypeVersion="13" ma:contentTypeDescription="Crear nuevo documento." ma:contentTypeScope="" ma:versionID="f101be100b1a4b5f3af5708e833ff81b">
  <xsd:schema xmlns:xsd="http://www.w3.org/2001/XMLSchema" xmlns:xs="http://www.w3.org/2001/XMLSchema" xmlns:p="http://schemas.microsoft.com/office/2006/metadata/properties" xmlns:ns3="b3321d30-7f75-4759-81cc-db21480b69c5" xmlns:ns4="32a9cd7a-f986-400f-9ff1-fc0ff4863eac" targetNamespace="http://schemas.microsoft.com/office/2006/metadata/properties" ma:root="true" ma:fieldsID="a6b3e0a2d63818e27bf51a9be7afbc4a" ns3:_="" ns4:_="">
    <xsd:import namespace="b3321d30-7f75-4759-81cc-db21480b69c5"/>
    <xsd:import namespace="32a9cd7a-f986-400f-9ff1-fc0ff4863ea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321d30-7f75-4759-81cc-db21480b69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a9cd7a-f986-400f-9ff1-fc0ff4863eac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3321d30-7f75-4759-81cc-db21480b69c5" xsi:nil="true"/>
  </documentManagement>
</p:properties>
</file>

<file path=customXml/itemProps1.xml><?xml version="1.0" encoding="utf-8"?>
<ds:datastoreItem xmlns:ds="http://schemas.openxmlformats.org/officeDocument/2006/customXml" ds:itemID="{5361EBDD-4388-4F72-805F-D5FCD2B85FA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3321d30-7f75-4759-81cc-db21480b69c5"/>
    <ds:schemaRef ds:uri="32a9cd7a-f986-400f-9ff1-fc0ff4863ea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30FB91F-6B98-4DC9-9879-B03C882AD40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FA2E9C3-4271-4D4D-B086-285F2B8DF495}">
  <ds:schemaRefs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32a9cd7a-f986-400f-9ff1-fc0ff4863eac"/>
    <ds:schemaRef ds:uri="http://schemas.openxmlformats.org/package/2006/metadata/core-properties"/>
    <ds:schemaRef ds:uri="b3321d30-7f75-4759-81cc-db21480b69c5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613</Words>
  <Application>Microsoft Office PowerPoint</Application>
  <PresentationFormat>Personalizado</PresentationFormat>
  <Paragraphs>170</Paragraphs>
  <Slides>9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7" baseType="lpstr">
      <vt:lpstr>Arial</vt:lpstr>
      <vt:lpstr>Calibri</vt:lpstr>
      <vt:lpstr>Inter Semi-Bold</vt:lpstr>
      <vt:lpstr>Inter Light</vt:lpstr>
      <vt:lpstr>Aptos</vt:lpstr>
      <vt:lpstr>Inter</vt:lpstr>
      <vt:lpstr>Inter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Alberto AI</dc:title>
  <cp:lastModifiedBy>ALFONSO JIMENA RUIZ</cp:lastModifiedBy>
  <cp:revision>3</cp:revision>
  <dcterms:created xsi:type="dcterms:W3CDTF">2006-08-16T00:00:00Z</dcterms:created>
  <dcterms:modified xsi:type="dcterms:W3CDTF">2026-09-19T09:42:35Z</dcterms:modified>
  <dc:identifier>DAHVoKKsd5g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0x0101009594E64C3763144D90A879E76CEB30EE</vt:lpwstr>
  </property>
</Properties>
</file>