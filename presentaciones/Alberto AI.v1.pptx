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Inter Bold" charset="1" panose="020B0802030000000004"/>
      <p:regular r:id="rId15"/>
    </p:embeddedFont>
    <p:embeddedFont>
      <p:font typeface="Inter" charset="1" panose="020B0502030000000004"/>
      <p:regular r:id="rId16"/>
    </p:embeddedFont>
    <p:embeddedFont>
      <p:font typeface="Inter Semi-Bold" charset="1" panose="02000503000000020004"/>
      <p:regular r:id="rId17"/>
    </p:embeddedFont>
    <p:embeddedFont>
      <p:font typeface="Inter Light" charset="1" panose="020005030000000200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Relationship Id="rId5" Target="../media/image9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8.png" Type="http://schemas.openxmlformats.org/officeDocument/2006/relationships/image"/><Relationship Id="rId11" Target="../media/image19.png" Type="http://schemas.openxmlformats.org/officeDocument/2006/relationships/image"/><Relationship Id="rId12" Target="../media/image20.png" Type="http://schemas.openxmlformats.org/officeDocument/2006/relationships/image"/><Relationship Id="rId13" Target="../media/image21.png" Type="http://schemas.openxmlformats.org/officeDocument/2006/relationships/image"/><Relationship Id="rId14" Target="../media/image22.png" Type="http://schemas.openxmlformats.org/officeDocument/2006/relationships/image"/><Relationship Id="rId15" Target="../media/image23.png" Type="http://schemas.openxmlformats.org/officeDocument/2006/relationships/image"/><Relationship Id="rId16" Target="../media/image24.png" Type="http://schemas.openxmlformats.org/officeDocument/2006/relationships/image"/><Relationship Id="rId17" Target="../media/image25.png" Type="http://schemas.openxmlformats.org/officeDocument/2006/relationships/image"/><Relationship Id="rId18" Target="../media/image26.png" Type="http://schemas.openxmlformats.org/officeDocument/2006/relationships/image"/><Relationship Id="rId19" Target="../media/image27.png" Type="http://schemas.openxmlformats.org/officeDocument/2006/relationships/image"/><Relationship Id="rId2" Target="../media/image10.png" Type="http://schemas.openxmlformats.org/officeDocument/2006/relationships/image"/><Relationship Id="rId3" Target="../media/image11.png" Type="http://schemas.openxmlformats.org/officeDocument/2006/relationships/image"/><Relationship Id="rId4" Target="../media/image12.png" Type="http://schemas.openxmlformats.org/officeDocument/2006/relationships/image"/><Relationship Id="rId5" Target="../media/image13.png" Type="http://schemas.openxmlformats.org/officeDocument/2006/relationships/image"/><Relationship Id="rId6" Target="../media/image14.png" Type="http://schemas.openxmlformats.org/officeDocument/2006/relationships/image"/><Relationship Id="rId7" Target="../media/image15.png" Type="http://schemas.openxmlformats.org/officeDocument/2006/relationships/image"/><Relationship Id="rId8" Target="../media/image16.png" Type="http://schemas.openxmlformats.org/officeDocument/2006/relationships/image"/><Relationship Id="rId9" Target="../media/image17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6.png" Type="http://schemas.openxmlformats.org/officeDocument/2006/relationships/image"/><Relationship Id="rId11" Target="../media/image37.png" Type="http://schemas.openxmlformats.org/officeDocument/2006/relationships/image"/><Relationship Id="rId12" Target="../media/image38.png" Type="http://schemas.openxmlformats.org/officeDocument/2006/relationships/image"/><Relationship Id="rId13" Target="../media/image39.png" Type="http://schemas.openxmlformats.org/officeDocument/2006/relationships/image"/><Relationship Id="rId14" Target="../media/image40.png" Type="http://schemas.openxmlformats.org/officeDocument/2006/relationships/image"/><Relationship Id="rId15" Target="../media/image41.png" Type="http://schemas.openxmlformats.org/officeDocument/2006/relationships/image"/><Relationship Id="rId16" Target="../media/image42.png" Type="http://schemas.openxmlformats.org/officeDocument/2006/relationships/image"/><Relationship Id="rId17" Target="../media/image43.png" Type="http://schemas.openxmlformats.org/officeDocument/2006/relationships/image"/><Relationship Id="rId18" Target="../media/image44.png" Type="http://schemas.openxmlformats.org/officeDocument/2006/relationships/image"/><Relationship Id="rId2" Target="../media/image28.png" Type="http://schemas.openxmlformats.org/officeDocument/2006/relationships/image"/><Relationship Id="rId3" Target="../media/image29.png" Type="http://schemas.openxmlformats.org/officeDocument/2006/relationships/image"/><Relationship Id="rId4" Target="../media/image30.png" Type="http://schemas.openxmlformats.org/officeDocument/2006/relationships/image"/><Relationship Id="rId5" Target="../media/image31.png" Type="http://schemas.openxmlformats.org/officeDocument/2006/relationships/image"/><Relationship Id="rId6" Target="../media/image32.png" Type="http://schemas.openxmlformats.org/officeDocument/2006/relationships/image"/><Relationship Id="rId7" Target="../media/image33.png" Type="http://schemas.openxmlformats.org/officeDocument/2006/relationships/image"/><Relationship Id="rId8" Target="../media/image34.png" Type="http://schemas.openxmlformats.org/officeDocument/2006/relationships/image"/><Relationship Id="rId9" Target="../media/image3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5.png" Type="http://schemas.openxmlformats.org/officeDocument/2006/relationships/image"/><Relationship Id="rId3" Target="../media/image46.png" Type="http://schemas.openxmlformats.org/officeDocument/2006/relationships/image"/><Relationship Id="rId4" Target="../media/image47.png" Type="http://schemas.openxmlformats.org/officeDocument/2006/relationships/image"/><Relationship Id="rId5" Target="../media/image48.png" Type="http://schemas.openxmlformats.org/officeDocument/2006/relationships/image"/><Relationship Id="rId6" Target="../media/image49.png" Type="http://schemas.openxmlformats.org/officeDocument/2006/relationships/image"/><Relationship Id="rId7" Target="../media/image50.png" Type="http://schemas.openxmlformats.org/officeDocument/2006/relationships/image"/><Relationship Id="rId8" Target="../media/image5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0.png" Type="http://schemas.openxmlformats.org/officeDocument/2006/relationships/image"/><Relationship Id="rId11" Target="../media/image61.png" Type="http://schemas.openxmlformats.org/officeDocument/2006/relationships/image"/><Relationship Id="rId12" Target="../media/image62.png" Type="http://schemas.openxmlformats.org/officeDocument/2006/relationships/image"/><Relationship Id="rId13" Target="../media/image63.png" Type="http://schemas.openxmlformats.org/officeDocument/2006/relationships/image"/><Relationship Id="rId14" Target="../media/image64.png" Type="http://schemas.openxmlformats.org/officeDocument/2006/relationships/image"/><Relationship Id="rId15" Target="../media/image65.png" Type="http://schemas.openxmlformats.org/officeDocument/2006/relationships/image"/><Relationship Id="rId2" Target="../media/image52.png" Type="http://schemas.openxmlformats.org/officeDocument/2006/relationships/image"/><Relationship Id="rId3" Target="../media/image53.png" Type="http://schemas.openxmlformats.org/officeDocument/2006/relationships/image"/><Relationship Id="rId4" Target="../media/image54.png" Type="http://schemas.openxmlformats.org/officeDocument/2006/relationships/image"/><Relationship Id="rId5" Target="../media/image55.png" Type="http://schemas.openxmlformats.org/officeDocument/2006/relationships/image"/><Relationship Id="rId6" Target="../media/image56.png" Type="http://schemas.openxmlformats.org/officeDocument/2006/relationships/image"/><Relationship Id="rId7" Target="../media/image57.png" Type="http://schemas.openxmlformats.org/officeDocument/2006/relationships/image"/><Relationship Id="rId8" Target="../media/image58.png" Type="http://schemas.openxmlformats.org/officeDocument/2006/relationships/image"/><Relationship Id="rId9" Target="../media/image59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4.png" Type="http://schemas.openxmlformats.org/officeDocument/2006/relationships/image"/><Relationship Id="rId2" Target="../media/image66.png" Type="http://schemas.openxmlformats.org/officeDocument/2006/relationships/image"/><Relationship Id="rId3" Target="../media/image67.png" Type="http://schemas.openxmlformats.org/officeDocument/2006/relationships/image"/><Relationship Id="rId4" Target="../media/image68.png" Type="http://schemas.openxmlformats.org/officeDocument/2006/relationships/image"/><Relationship Id="rId5" Target="../media/image69.png" Type="http://schemas.openxmlformats.org/officeDocument/2006/relationships/image"/><Relationship Id="rId6" Target="../media/image70.png" Type="http://schemas.openxmlformats.org/officeDocument/2006/relationships/image"/><Relationship Id="rId7" Target="../media/image71.png" Type="http://schemas.openxmlformats.org/officeDocument/2006/relationships/image"/><Relationship Id="rId8" Target="../media/image72.png" Type="http://schemas.openxmlformats.org/officeDocument/2006/relationships/image"/><Relationship Id="rId9" Target="../media/image7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5.png" Type="http://schemas.openxmlformats.org/officeDocument/2006/relationships/image"/><Relationship Id="rId3" Target="../media/image76.png" Type="http://schemas.openxmlformats.org/officeDocument/2006/relationships/image"/><Relationship Id="rId4" Target="../media/image77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8.png" Type="http://schemas.openxmlformats.org/officeDocument/2006/relationships/image"/><Relationship Id="rId3" Target="../media/image79.png" Type="http://schemas.openxmlformats.org/officeDocument/2006/relationships/image"/><Relationship Id="rId4" Target="../media/image80.png" Type="http://schemas.openxmlformats.org/officeDocument/2006/relationships/image"/><Relationship Id="rId5" Target="../media/image81.png" Type="http://schemas.openxmlformats.org/officeDocument/2006/relationships/image"/><Relationship Id="rId6" Target="../media/image82.png" Type="http://schemas.openxmlformats.org/officeDocument/2006/relationships/image"/><Relationship Id="rId7" Target="../media/image83.png" Type="http://schemas.openxmlformats.org/officeDocument/2006/relationships/image"/><Relationship Id="rId8" Target="../media/image84.png" Type="http://schemas.openxmlformats.org/officeDocument/2006/relationships/image"/><Relationship Id="rId9" Target="../media/image8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580086" y="0"/>
            <a:ext cx="3707914" cy="10287000"/>
          </a:xfrm>
          <a:custGeom>
            <a:avLst/>
            <a:gdLst/>
            <a:ahLst/>
            <a:cxnLst/>
            <a:rect r="r" b="b" t="t" l="l"/>
            <a:pathLst>
              <a:path h="10287000" w="3707914">
                <a:moveTo>
                  <a:pt x="0" y="0"/>
                </a:moveTo>
                <a:lnTo>
                  <a:pt x="3707914" y="0"/>
                </a:lnTo>
                <a:lnTo>
                  <a:pt x="3707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26842" y="1705390"/>
            <a:ext cx="8061158" cy="7947555"/>
          </a:xfrm>
          <a:custGeom>
            <a:avLst/>
            <a:gdLst/>
            <a:ahLst/>
            <a:cxnLst/>
            <a:rect r="r" b="b" t="t" l="l"/>
            <a:pathLst>
              <a:path h="7947555" w="8061158">
                <a:moveTo>
                  <a:pt x="0" y="0"/>
                </a:moveTo>
                <a:lnTo>
                  <a:pt x="8061158" y="0"/>
                </a:lnTo>
                <a:lnTo>
                  <a:pt x="8061158" y="7947555"/>
                </a:lnTo>
                <a:lnTo>
                  <a:pt x="0" y="794755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88720" y="3400532"/>
            <a:ext cx="7388352" cy="1718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894"/>
              </a:lnSpc>
            </a:pPr>
            <a:r>
              <a:rPr lang="en-US" sz="12894" spc="-644" b="true">
                <a:solidFill>
                  <a:srgbClr val="083B27"/>
                </a:solidFill>
                <a:latin typeface="Inter Bold"/>
                <a:ea typeface="Inter Bold"/>
                <a:cs typeface="Inter Bold"/>
                <a:sym typeface="Inter Bold"/>
              </a:rPr>
              <a:t>Alberto AI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43584" y="5232997"/>
            <a:ext cx="5157216" cy="5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4"/>
              </a:lnSpc>
            </a:pPr>
            <a:r>
              <a:rPr lang="en-US" sz="3062" spc="-61">
                <a:solidFill>
                  <a:srgbClr val="083B27"/>
                </a:solidFill>
                <a:latin typeface="Inter"/>
                <a:ea typeface="Inter"/>
                <a:cs typeface="Inter"/>
                <a:sym typeface="Inter"/>
              </a:rPr>
              <a:t>Nada ocurre sin dejar rastro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082842" y="6209369"/>
            <a:ext cx="7853340" cy="229572"/>
          </a:xfrm>
          <a:custGeom>
            <a:avLst/>
            <a:gdLst/>
            <a:ahLst/>
            <a:cxnLst/>
            <a:rect r="r" b="b" t="t" l="l"/>
            <a:pathLst>
              <a:path h="229572" w="7853340">
                <a:moveTo>
                  <a:pt x="0" y="0"/>
                </a:moveTo>
                <a:lnTo>
                  <a:pt x="7853340" y="0"/>
                </a:lnTo>
                <a:lnTo>
                  <a:pt x="7853340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243584" y="6923153"/>
            <a:ext cx="1207008" cy="445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6"/>
              </a:lnSpc>
            </a:pPr>
            <a:r>
              <a:rPr lang="en-US" sz="2723" spc="-54">
                <a:solidFill>
                  <a:srgbClr val="083B27"/>
                </a:solidFill>
                <a:latin typeface="Inter"/>
                <a:ea typeface="Inter"/>
                <a:cs typeface="Inter"/>
                <a:sym typeface="Inter"/>
              </a:rPr>
              <a:t>Equipo: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2384440" y="7280704"/>
            <a:ext cx="6332986" cy="229572"/>
          </a:xfrm>
          <a:custGeom>
            <a:avLst/>
            <a:gdLst/>
            <a:ahLst/>
            <a:cxnLst/>
            <a:rect r="r" b="b" t="t" l="l"/>
            <a:pathLst>
              <a:path h="229572" w="6332986">
                <a:moveTo>
                  <a:pt x="0" y="0"/>
                </a:moveTo>
                <a:lnTo>
                  <a:pt x="6332986" y="0"/>
                </a:lnTo>
                <a:lnTo>
                  <a:pt x="6332986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580086" y="0"/>
            <a:ext cx="3707914" cy="10287000"/>
          </a:xfrm>
          <a:custGeom>
            <a:avLst/>
            <a:gdLst/>
            <a:ahLst/>
            <a:cxnLst/>
            <a:rect r="r" b="b" t="t" l="l"/>
            <a:pathLst>
              <a:path h="10287000" w="3707914">
                <a:moveTo>
                  <a:pt x="0" y="0"/>
                </a:moveTo>
                <a:lnTo>
                  <a:pt x="3707914" y="0"/>
                </a:lnTo>
                <a:lnTo>
                  <a:pt x="3707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26842" y="1705390"/>
            <a:ext cx="8061158" cy="7947555"/>
          </a:xfrm>
          <a:custGeom>
            <a:avLst/>
            <a:gdLst/>
            <a:ahLst/>
            <a:cxnLst/>
            <a:rect r="r" b="b" t="t" l="l"/>
            <a:pathLst>
              <a:path h="7947555" w="8061158">
                <a:moveTo>
                  <a:pt x="0" y="0"/>
                </a:moveTo>
                <a:lnTo>
                  <a:pt x="8061158" y="0"/>
                </a:lnTo>
                <a:lnTo>
                  <a:pt x="8061158" y="7947555"/>
                </a:lnTo>
                <a:lnTo>
                  <a:pt x="0" y="794755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280160" y="1480217"/>
            <a:ext cx="6693408" cy="2638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88"/>
              </a:lnSpc>
            </a:pPr>
            <a:r>
              <a:rPr lang="en-US" sz="9439" spc="-377" b="true">
                <a:solidFill>
                  <a:srgbClr val="08493B"/>
                </a:solidFill>
                <a:latin typeface="Inter Bold"/>
                <a:ea typeface="Inter Bold"/>
                <a:cs typeface="Inter Bold"/>
                <a:sym typeface="Inter Bold"/>
              </a:rPr>
              <a:t>El problema</a:t>
            </a:r>
          </a:p>
          <a:p>
            <a:pPr algn="l">
              <a:lnSpc>
                <a:spcPts val="10288"/>
              </a:lnSpc>
            </a:pPr>
            <a:r>
              <a:rPr lang="en-US" sz="9439" spc="-377" b="true">
                <a:solidFill>
                  <a:srgbClr val="08493B"/>
                </a:solidFill>
                <a:latin typeface="Inter Bold"/>
                <a:ea typeface="Inter Bold"/>
                <a:cs typeface="Inter Bold"/>
                <a:sym typeface="Inter Bold"/>
              </a:rPr>
              <a:t>de Alberto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80160" y="4404054"/>
            <a:ext cx="4334256" cy="17151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9"/>
              </a:lnSpc>
            </a:pPr>
            <a:r>
              <a:rPr lang="en-US" sz="2893">
                <a:solidFill>
                  <a:srgbClr val="08493B"/>
                </a:solidFill>
                <a:latin typeface="Inter"/>
                <a:ea typeface="Inter"/>
                <a:cs typeface="Inter"/>
                <a:sym typeface="Inter"/>
              </a:rPr>
              <a:t>500 facturas PDF diarias</a:t>
            </a:r>
          </a:p>
          <a:p>
            <a:pPr algn="l">
              <a:lnSpc>
                <a:spcPts val="4629"/>
              </a:lnSpc>
            </a:pPr>
            <a:r>
              <a:rPr lang="en-US" sz="2893">
                <a:solidFill>
                  <a:srgbClr val="08493B"/>
                </a:solidFill>
                <a:latin typeface="Inter"/>
                <a:ea typeface="Inter"/>
                <a:cs typeface="Inter"/>
                <a:sym typeface="Inter"/>
              </a:rPr>
              <a:t>1 Excel de proveedores</a:t>
            </a:r>
          </a:p>
          <a:p>
            <a:pPr algn="l">
              <a:lnSpc>
                <a:spcPts val="4629"/>
              </a:lnSpc>
            </a:pPr>
            <a:r>
              <a:rPr lang="en-US" sz="2893">
                <a:solidFill>
                  <a:srgbClr val="08493B"/>
                </a:solidFill>
                <a:latin typeface="Inter"/>
                <a:ea typeface="Inter"/>
                <a:cs typeface="Inter"/>
                <a:sym typeface="Inter"/>
              </a:rPr>
              <a:t>1 ERP de 2009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082842" y="6428009"/>
            <a:ext cx="7634584" cy="218640"/>
          </a:xfrm>
          <a:custGeom>
            <a:avLst/>
            <a:gdLst/>
            <a:ahLst/>
            <a:cxnLst/>
            <a:rect r="r" b="b" t="t" l="l"/>
            <a:pathLst>
              <a:path h="218640" w="7634584">
                <a:moveTo>
                  <a:pt x="0" y="0"/>
                </a:moveTo>
                <a:lnTo>
                  <a:pt x="7634584" y="0"/>
                </a:lnTo>
                <a:lnTo>
                  <a:pt x="7634584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280160" y="7036906"/>
            <a:ext cx="7223760" cy="1758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1"/>
              </a:lnSpc>
            </a:pPr>
            <a:r>
              <a:rPr lang="en-US" sz="2893" spc="-86">
                <a:solidFill>
                  <a:srgbClr val="08493B"/>
                </a:solidFill>
                <a:latin typeface="Inter"/>
                <a:ea typeface="Inter"/>
                <a:cs typeface="Inter"/>
                <a:sym typeface="Inter"/>
              </a:rPr>
              <a:t>Usuarios: equipo financiero y contable</a:t>
            </a:r>
          </a:p>
          <a:p>
            <a:pPr algn="l">
              <a:lnSpc>
                <a:spcPts val="3471"/>
              </a:lnSpc>
            </a:pPr>
          </a:p>
          <a:p>
            <a:pPr algn="l">
              <a:lnSpc>
                <a:spcPts val="3471"/>
              </a:lnSpc>
            </a:pPr>
            <a:r>
              <a:rPr lang="en-US" sz="2893" spc="-86">
                <a:solidFill>
                  <a:srgbClr val="08493B"/>
                </a:solidFill>
                <a:latin typeface="Inter"/>
                <a:ea typeface="Inter"/>
                <a:cs typeface="Inter"/>
                <a:sym typeface="Inter"/>
              </a:rPr>
              <a:t>Se pierde tiempo en </a:t>
            </a:r>
            <a:r>
              <a:rPr lang="en-US" sz="2893" spc="-86" b="true">
                <a:solidFill>
                  <a:srgbClr val="169D79"/>
                </a:solidFill>
                <a:latin typeface="Inter Bold"/>
                <a:ea typeface="Inter Bold"/>
                <a:cs typeface="Inter Bold"/>
                <a:sym typeface="Inter Bold"/>
              </a:rPr>
              <a:t>revisión manual,</a:t>
            </a:r>
          </a:p>
          <a:p>
            <a:pPr algn="l">
              <a:lnSpc>
                <a:spcPts val="3471"/>
              </a:lnSpc>
            </a:pPr>
            <a:r>
              <a:rPr lang="en-US" sz="2893" spc="-86" b="true">
                <a:solidFill>
                  <a:srgbClr val="169D79"/>
                </a:solidFill>
                <a:latin typeface="Inter Bold"/>
                <a:ea typeface="Inter Bold"/>
                <a:cs typeface="Inter Bold"/>
                <a:sym typeface="Inter Bold"/>
              </a:rPr>
              <a:t>cruce de datos y decisiones sobre pagos.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26574" y="2776725"/>
            <a:ext cx="5457962" cy="5367606"/>
          </a:xfrm>
          <a:custGeom>
            <a:avLst/>
            <a:gdLst/>
            <a:ahLst/>
            <a:cxnLst/>
            <a:rect r="r" b="b" t="t" l="l"/>
            <a:pathLst>
              <a:path h="5367606" w="5457962">
                <a:moveTo>
                  <a:pt x="0" y="0"/>
                </a:moveTo>
                <a:lnTo>
                  <a:pt x="5457962" y="0"/>
                </a:lnTo>
                <a:lnTo>
                  <a:pt x="5457962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26574" y="2776725"/>
            <a:ext cx="1104718" cy="5367606"/>
          </a:xfrm>
          <a:custGeom>
            <a:avLst/>
            <a:gdLst/>
            <a:ahLst/>
            <a:cxnLst/>
            <a:rect r="r" b="b" t="t" l="l"/>
            <a:pathLst>
              <a:path h="5367606" w="1104718">
                <a:moveTo>
                  <a:pt x="0" y="0"/>
                </a:moveTo>
                <a:lnTo>
                  <a:pt x="1104718" y="0"/>
                </a:lnTo>
                <a:lnTo>
                  <a:pt x="1104718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26574" y="3640352"/>
            <a:ext cx="1104718" cy="437279"/>
          </a:xfrm>
          <a:custGeom>
            <a:avLst/>
            <a:gdLst/>
            <a:ahLst/>
            <a:cxnLst/>
            <a:rect r="r" b="b" t="t" l="l"/>
            <a:pathLst>
              <a:path h="437279" w="1104718">
                <a:moveTo>
                  <a:pt x="0" y="0"/>
                </a:moveTo>
                <a:lnTo>
                  <a:pt x="1104718" y="0"/>
                </a:lnTo>
                <a:lnTo>
                  <a:pt x="110471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520354" y="3640352"/>
            <a:ext cx="1093780" cy="863627"/>
          </a:xfrm>
          <a:custGeom>
            <a:avLst/>
            <a:gdLst/>
            <a:ahLst/>
            <a:cxnLst/>
            <a:rect r="r" b="b" t="t" l="l"/>
            <a:pathLst>
              <a:path h="863627" w="1093780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603196" y="3640352"/>
            <a:ext cx="1104718" cy="863627"/>
          </a:xfrm>
          <a:custGeom>
            <a:avLst/>
            <a:gdLst/>
            <a:ahLst/>
            <a:cxnLst/>
            <a:rect r="r" b="b" t="t" l="l"/>
            <a:pathLst>
              <a:path h="863627" w="1104718">
                <a:moveTo>
                  <a:pt x="0" y="0"/>
                </a:moveTo>
                <a:lnTo>
                  <a:pt x="1104718" y="0"/>
                </a:lnTo>
                <a:lnTo>
                  <a:pt x="1104718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3478220" y="3640352"/>
            <a:ext cx="1093780" cy="863627"/>
          </a:xfrm>
          <a:custGeom>
            <a:avLst/>
            <a:gdLst/>
            <a:ahLst/>
            <a:cxnLst/>
            <a:rect r="r" b="b" t="t" l="l"/>
            <a:pathLst>
              <a:path h="863627" w="1093780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4572000" y="3640352"/>
            <a:ext cx="1093780" cy="863627"/>
          </a:xfrm>
          <a:custGeom>
            <a:avLst/>
            <a:gdLst/>
            <a:ahLst/>
            <a:cxnLst/>
            <a:rect r="r" b="b" t="t" l="l"/>
            <a:pathLst>
              <a:path h="863627" w="1093780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4791456" y="3923875"/>
            <a:ext cx="219456" cy="261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51"/>
              </a:lnSpc>
            </a:pPr>
            <a:r>
              <a:rPr lang="en-US" sz="1536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12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520354" y="4493047"/>
            <a:ext cx="1968804" cy="2372241"/>
          </a:xfrm>
          <a:custGeom>
            <a:avLst/>
            <a:gdLst/>
            <a:ahLst/>
            <a:cxnLst/>
            <a:rect r="r" b="b" t="t" l="l"/>
            <a:pathLst>
              <a:path h="2372241" w="1968804">
                <a:moveTo>
                  <a:pt x="0" y="0"/>
                </a:moveTo>
                <a:lnTo>
                  <a:pt x="1968804" y="0"/>
                </a:lnTo>
                <a:lnTo>
                  <a:pt x="1968804" y="2372241"/>
                </a:lnTo>
                <a:lnTo>
                  <a:pt x="0" y="237224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739110" y="7280704"/>
            <a:ext cx="3489158" cy="655919"/>
          </a:xfrm>
          <a:custGeom>
            <a:avLst/>
            <a:gdLst/>
            <a:ahLst/>
            <a:cxnLst/>
            <a:rect r="r" b="b" t="t" l="l"/>
            <a:pathLst>
              <a:path h="655919" w="3489158">
                <a:moveTo>
                  <a:pt x="0" y="0"/>
                </a:moveTo>
                <a:lnTo>
                  <a:pt x="3489158" y="0"/>
                </a:lnTo>
                <a:lnTo>
                  <a:pt x="3489158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5217330" y="2995365"/>
            <a:ext cx="448450" cy="229572"/>
          </a:xfrm>
          <a:custGeom>
            <a:avLst/>
            <a:gdLst/>
            <a:ahLst/>
            <a:cxnLst/>
            <a:rect r="r" b="b" t="t" l="l"/>
            <a:pathLst>
              <a:path h="229572" w="448450">
                <a:moveTo>
                  <a:pt x="0" y="0"/>
                </a:moveTo>
                <a:lnTo>
                  <a:pt x="448450" y="0"/>
                </a:lnTo>
                <a:lnTo>
                  <a:pt x="448450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6092354" y="2776725"/>
            <a:ext cx="5884536" cy="5367606"/>
          </a:xfrm>
          <a:custGeom>
            <a:avLst/>
            <a:gdLst/>
            <a:ahLst/>
            <a:cxnLst/>
            <a:rect r="r" b="b" t="t" l="l"/>
            <a:pathLst>
              <a:path h="5367606" w="5884536">
                <a:moveTo>
                  <a:pt x="0" y="0"/>
                </a:moveTo>
                <a:lnTo>
                  <a:pt x="5884536" y="0"/>
                </a:lnTo>
                <a:lnTo>
                  <a:pt x="5884536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6092354" y="2776725"/>
            <a:ext cx="1093780" cy="5367606"/>
          </a:xfrm>
          <a:custGeom>
            <a:avLst/>
            <a:gdLst/>
            <a:ahLst/>
            <a:cxnLst/>
            <a:rect r="r" b="b" t="t" l="l"/>
            <a:pathLst>
              <a:path h="5367606" w="1093780">
                <a:moveTo>
                  <a:pt x="0" y="0"/>
                </a:moveTo>
                <a:lnTo>
                  <a:pt x="1093780" y="0"/>
                </a:lnTo>
                <a:lnTo>
                  <a:pt x="1093780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6092354" y="3848060"/>
            <a:ext cx="1093780" cy="655919"/>
          </a:xfrm>
          <a:custGeom>
            <a:avLst/>
            <a:gdLst/>
            <a:ahLst/>
            <a:cxnLst/>
            <a:rect r="r" b="b" t="t" l="l"/>
            <a:pathLst>
              <a:path h="655919" w="1093780">
                <a:moveTo>
                  <a:pt x="0" y="0"/>
                </a:moveTo>
                <a:lnTo>
                  <a:pt x="1093780" y="0"/>
                </a:lnTo>
                <a:lnTo>
                  <a:pt x="109378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7175196" y="3848060"/>
            <a:ext cx="4582938" cy="3224936"/>
          </a:xfrm>
          <a:custGeom>
            <a:avLst/>
            <a:gdLst/>
            <a:ahLst/>
            <a:cxnLst/>
            <a:rect r="r" b="b" t="t" l="l"/>
            <a:pathLst>
              <a:path h="3224936" w="4582938">
                <a:moveTo>
                  <a:pt x="0" y="0"/>
                </a:moveTo>
                <a:lnTo>
                  <a:pt x="4582938" y="0"/>
                </a:lnTo>
                <a:lnTo>
                  <a:pt x="4582938" y="3224936"/>
                </a:lnTo>
                <a:lnTo>
                  <a:pt x="0" y="3224936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1101866" y="2995365"/>
            <a:ext cx="656268" cy="229572"/>
          </a:xfrm>
          <a:custGeom>
            <a:avLst/>
            <a:gdLst/>
            <a:ahLst/>
            <a:cxnLst/>
            <a:rect r="r" b="b" t="t" l="l"/>
            <a:pathLst>
              <a:path h="229572" w="656268">
                <a:moveTo>
                  <a:pt x="0" y="0"/>
                </a:moveTo>
                <a:lnTo>
                  <a:pt x="656268" y="0"/>
                </a:lnTo>
                <a:lnTo>
                  <a:pt x="656268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184708" y="2776725"/>
            <a:ext cx="5895474" cy="5367606"/>
          </a:xfrm>
          <a:custGeom>
            <a:avLst/>
            <a:gdLst/>
            <a:ahLst/>
            <a:cxnLst/>
            <a:rect r="r" b="b" t="t" l="l"/>
            <a:pathLst>
              <a:path h="5367606" w="5895474">
                <a:moveTo>
                  <a:pt x="0" y="0"/>
                </a:moveTo>
                <a:lnTo>
                  <a:pt x="5895474" y="0"/>
                </a:lnTo>
                <a:lnTo>
                  <a:pt x="5895474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2184708" y="2776725"/>
            <a:ext cx="1104718" cy="5367606"/>
          </a:xfrm>
          <a:custGeom>
            <a:avLst/>
            <a:gdLst/>
            <a:ahLst/>
            <a:cxnLst/>
            <a:rect r="r" b="b" t="t" l="l"/>
            <a:pathLst>
              <a:path h="5367606" w="1104718">
                <a:moveTo>
                  <a:pt x="0" y="0"/>
                </a:moveTo>
                <a:lnTo>
                  <a:pt x="1104718" y="0"/>
                </a:lnTo>
                <a:lnTo>
                  <a:pt x="1104718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694944" y="3186810"/>
            <a:ext cx="548640" cy="13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0"/>
              </a:lnSpc>
            </a:pPr>
            <a:r>
              <a:rPr lang="en-US" sz="850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Alberto AI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609344" y="3337464"/>
            <a:ext cx="1133856" cy="167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1"/>
              </a:lnSpc>
            </a:pPr>
            <a:r>
              <a:rPr lang="en-US" sz="1044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Resumen general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664208" y="3909527"/>
            <a:ext cx="438912" cy="2901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7"/>
              </a:lnSpc>
            </a:pPr>
            <a:r>
              <a:rPr lang="en-US" sz="169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500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688336" y="3918921"/>
            <a:ext cx="438912" cy="271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8"/>
              </a:lnSpc>
            </a:pPr>
            <a:r>
              <a:rPr lang="en-US" sz="1577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98%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749040" y="3914611"/>
            <a:ext cx="292608" cy="289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1779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32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94944" y="4128262"/>
            <a:ext cx="365760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Facturas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94944" y="4498594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Proveedores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94944" y="4879213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Configuración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609344" y="5156962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Aprobados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072384" y="5156962"/>
            <a:ext cx="219456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Aprobada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3749040" y="5156962"/>
            <a:ext cx="219456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Aprobada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175504" y="5217634"/>
            <a:ext cx="475488" cy="120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Aprobada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609344" y="5434711"/>
            <a:ext cx="694944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Requem revisión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072384" y="5495383"/>
            <a:ext cx="219456" cy="120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76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3749040" y="5434711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Requem revisión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5175504" y="5434711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Requem revisión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609344" y="5712460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3072384" y="5773132"/>
            <a:ext cx="219456" cy="120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876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3749040" y="5712460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175504" y="5712460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609344" y="5990209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3072384" y="6050881"/>
            <a:ext cx="219456" cy="120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76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3749040" y="5990209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5175504" y="5990209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609344" y="6370828"/>
            <a:ext cx="694944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175504" y="6370828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3749040" y="6370828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5175504" y="6370828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664208" y="4879213"/>
            <a:ext cx="987552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Estado de procesamiento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3072384" y="4939885"/>
            <a:ext cx="475488" cy="120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Factura n°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3749040" y="4939885"/>
            <a:ext cx="694944" cy="120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Factura n°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5175504" y="4939885"/>
            <a:ext cx="475488" cy="120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Factura n°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609344" y="6370828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3749040" y="6370828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5175504" y="6370828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3749040" y="6370828"/>
            <a:ext cx="475488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6437376" y="3186810"/>
            <a:ext cx="548640" cy="13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0"/>
              </a:lnSpc>
            </a:pPr>
            <a:r>
              <a:rPr lang="en-US" sz="850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Alberto AI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7388352" y="3337464"/>
            <a:ext cx="1389888" cy="167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1"/>
              </a:lnSpc>
            </a:pPr>
            <a:r>
              <a:rPr lang="en-US" sz="1044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Facturas procesadas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6437376" y="3747643"/>
            <a:ext cx="365760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Resumen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7388352" y="3807769"/>
            <a:ext cx="987552" cy="121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01. Dónde se procedirá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8247888" y="3808315"/>
            <a:ext cx="1133856" cy="120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02. Por qué se procedirá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0936224" y="3747643"/>
            <a:ext cx="731520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03. Por qué se procedirá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6437376" y="4138549"/>
            <a:ext cx="365760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Facturas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7388352" y="4138549"/>
            <a:ext cx="365760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Factura n°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8247888" y="4138549"/>
            <a:ext cx="219456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Fecha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9290304" y="4138549"/>
            <a:ext cx="219456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Fecha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10332720" y="4138549"/>
            <a:ext cx="219456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Fecha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1192256" y="4138549"/>
            <a:ext cx="219456" cy="242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Fecha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6437376" y="4579840"/>
            <a:ext cx="365760" cy="120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03. 04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7388352" y="4579840"/>
            <a:ext cx="694944" cy="120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04. 05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8247888" y="4579840"/>
            <a:ext cx="475488" cy="120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06. 07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9290304" y="4579840"/>
            <a:ext cx="475488" cy="120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08. 09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10332720" y="4579840"/>
            <a:ext cx="475488" cy="120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10. 11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1192256" y="4579840"/>
            <a:ext cx="475488" cy="120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true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12. 13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6437376" y="4960459"/>
            <a:ext cx="365760" cy="120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04. 05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68096" y="796750"/>
            <a:ext cx="5815584" cy="9786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54"/>
              </a:lnSpc>
            </a:pPr>
            <a:r>
              <a:rPr lang="en-US" sz="7254" b="true">
                <a:solidFill>
                  <a:srgbClr val="215A4E"/>
                </a:solidFill>
                <a:latin typeface="Inter Bold"/>
                <a:ea typeface="Inter Bold"/>
                <a:cs typeface="Inter Bold"/>
                <a:sym typeface="Inter Bold"/>
              </a:rPr>
              <a:t>Arquitectura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68096" y="2038297"/>
            <a:ext cx="5193792" cy="343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54"/>
              </a:lnSpc>
            </a:pPr>
            <a:r>
              <a:rPr lang="en-US" sz="2554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Flujo principal y puntos de control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645330" y="2995365"/>
            <a:ext cx="2625072" cy="1508614"/>
          </a:xfrm>
          <a:custGeom>
            <a:avLst/>
            <a:gdLst/>
            <a:ahLst/>
            <a:cxnLst/>
            <a:rect r="r" b="b" t="t" l="l"/>
            <a:pathLst>
              <a:path h="1508614" w="2625072">
                <a:moveTo>
                  <a:pt x="0" y="0"/>
                </a:moveTo>
                <a:lnTo>
                  <a:pt x="2625072" y="0"/>
                </a:lnTo>
                <a:lnTo>
                  <a:pt x="262507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86384" y="3378130"/>
            <a:ext cx="2286000" cy="798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Entrada</a:t>
            </a:r>
          </a:p>
          <a:p>
            <a:pPr algn="ctr">
              <a:lnSpc>
                <a:spcPts val="3219"/>
              </a:lnSpc>
            </a:pPr>
            <a:r>
              <a:rPr lang="en-US" b="true" sz="2299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 documentos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3040708" y="3640352"/>
            <a:ext cx="1104718" cy="437279"/>
          </a:xfrm>
          <a:custGeom>
            <a:avLst/>
            <a:gdLst/>
            <a:ahLst/>
            <a:cxnLst/>
            <a:rect r="r" b="b" t="t" l="l"/>
            <a:pathLst>
              <a:path h="437279" w="1104718">
                <a:moveTo>
                  <a:pt x="0" y="0"/>
                </a:moveTo>
                <a:lnTo>
                  <a:pt x="1104718" y="0"/>
                </a:lnTo>
                <a:lnTo>
                  <a:pt x="110471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3915732" y="2995365"/>
            <a:ext cx="3270402" cy="1727254"/>
          </a:xfrm>
          <a:custGeom>
            <a:avLst/>
            <a:gdLst/>
            <a:ahLst/>
            <a:cxnLst/>
            <a:rect r="r" b="b" t="t" l="l"/>
            <a:pathLst>
              <a:path h="1727254" w="3270402">
                <a:moveTo>
                  <a:pt x="0" y="0"/>
                </a:moveTo>
                <a:lnTo>
                  <a:pt x="3270402" y="0"/>
                </a:lnTo>
                <a:lnTo>
                  <a:pt x="3270402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4041648" y="3289039"/>
            <a:ext cx="2816352" cy="1171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2"/>
              </a:lnSpc>
            </a:pPr>
            <a:r>
              <a:rPr lang="en-US" sz="2223" b="true">
                <a:solidFill>
                  <a:srgbClr val="215A4E"/>
                </a:solidFill>
                <a:latin typeface="Inter Bold"/>
                <a:ea typeface="Inter Bold"/>
                <a:cs typeface="Inter Bold"/>
                <a:sym typeface="Inter Bold"/>
              </a:rPr>
              <a:t>OCR Worker</a:t>
            </a:r>
          </a:p>
          <a:p>
            <a:pPr algn="ctr">
              <a:lnSpc>
                <a:spcPts val="3112"/>
              </a:lnSpc>
            </a:pPr>
            <a:r>
              <a:rPr lang="en-US" sz="2223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Extrae la información del documento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6956440" y="3640352"/>
            <a:ext cx="667206" cy="437279"/>
          </a:xfrm>
          <a:custGeom>
            <a:avLst/>
            <a:gdLst/>
            <a:ahLst/>
            <a:cxnLst/>
            <a:rect r="r" b="b" t="t" l="l"/>
            <a:pathLst>
              <a:path h="437279" w="667206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7393952" y="2995365"/>
            <a:ext cx="3281340" cy="1727254"/>
          </a:xfrm>
          <a:custGeom>
            <a:avLst/>
            <a:gdLst/>
            <a:ahLst/>
            <a:cxnLst/>
            <a:rect r="r" b="b" t="t" l="l"/>
            <a:pathLst>
              <a:path h="1727254" w="3281340">
                <a:moveTo>
                  <a:pt x="0" y="0"/>
                </a:moveTo>
                <a:lnTo>
                  <a:pt x="3281340" y="0"/>
                </a:lnTo>
                <a:lnTo>
                  <a:pt x="3281340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662672" y="3273615"/>
            <a:ext cx="2816352" cy="12026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true">
                <a:solidFill>
                  <a:srgbClr val="215A4E"/>
                </a:solidFill>
                <a:latin typeface="Inter Bold"/>
                <a:ea typeface="Inter Bold"/>
                <a:cs typeface="Inter Bold"/>
                <a:sym typeface="Inter Bold"/>
              </a:rPr>
              <a:t>Validation Worker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Valida y normaliza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los datos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0445598" y="3640352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1101866" y="2995365"/>
            <a:ext cx="3270402" cy="1727254"/>
          </a:xfrm>
          <a:custGeom>
            <a:avLst/>
            <a:gdLst/>
            <a:ahLst/>
            <a:cxnLst/>
            <a:rect r="r" b="b" t="t" l="l"/>
            <a:pathLst>
              <a:path h="1727254" w="3270402">
                <a:moveTo>
                  <a:pt x="0" y="0"/>
                </a:moveTo>
                <a:lnTo>
                  <a:pt x="3270402" y="0"/>
                </a:lnTo>
                <a:lnTo>
                  <a:pt x="3270402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1283696" y="3273615"/>
            <a:ext cx="2816352" cy="12026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true">
                <a:solidFill>
                  <a:srgbClr val="215A4E"/>
                </a:solidFill>
                <a:latin typeface="Inter Bold"/>
                <a:ea typeface="Inter Bold"/>
                <a:cs typeface="Inter Bold"/>
                <a:sym typeface="Inter Bold"/>
              </a:rPr>
              <a:t>Decision Worker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Aplica reglas y toma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la decisión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4142574" y="3640352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5017598" y="3214004"/>
            <a:ext cx="2625072" cy="1508614"/>
          </a:xfrm>
          <a:custGeom>
            <a:avLst/>
            <a:gdLst/>
            <a:ahLst/>
            <a:cxnLst/>
            <a:rect r="r" b="b" t="t" l="l"/>
            <a:pathLst>
              <a:path h="1508614" w="2625072">
                <a:moveTo>
                  <a:pt x="0" y="0"/>
                </a:moveTo>
                <a:lnTo>
                  <a:pt x="2625072" y="0"/>
                </a:lnTo>
                <a:lnTo>
                  <a:pt x="262507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5217330" y="4493047"/>
            <a:ext cx="448450" cy="1300906"/>
          </a:xfrm>
          <a:custGeom>
            <a:avLst/>
            <a:gdLst/>
            <a:ahLst/>
            <a:cxnLst/>
            <a:rect r="r" b="b" t="t" l="l"/>
            <a:pathLst>
              <a:path h="1300906" w="448450">
                <a:moveTo>
                  <a:pt x="0" y="0"/>
                </a:moveTo>
                <a:lnTo>
                  <a:pt x="448450" y="0"/>
                </a:lnTo>
                <a:lnTo>
                  <a:pt x="448450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3915732" y="5564382"/>
            <a:ext cx="6759560" cy="1945894"/>
          </a:xfrm>
          <a:custGeom>
            <a:avLst/>
            <a:gdLst/>
            <a:ahLst/>
            <a:cxnLst/>
            <a:rect r="r" b="b" t="t" l="l"/>
            <a:pathLst>
              <a:path h="1945894" w="6759560">
                <a:moveTo>
                  <a:pt x="0" y="0"/>
                </a:moveTo>
                <a:lnTo>
                  <a:pt x="6759560" y="0"/>
                </a:lnTo>
                <a:lnTo>
                  <a:pt x="6759560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8925244" y="4493047"/>
            <a:ext cx="437512" cy="1300906"/>
          </a:xfrm>
          <a:custGeom>
            <a:avLst/>
            <a:gdLst/>
            <a:ahLst/>
            <a:cxnLst/>
            <a:rect r="r" b="b" t="t" l="l"/>
            <a:pathLst>
              <a:path h="1300906" w="437512">
                <a:moveTo>
                  <a:pt x="0" y="0"/>
                </a:moveTo>
                <a:lnTo>
                  <a:pt x="437512" y="0"/>
                </a:lnTo>
                <a:lnTo>
                  <a:pt x="437512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2622220" y="4493047"/>
            <a:ext cx="885962" cy="1508614"/>
          </a:xfrm>
          <a:custGeom>
            <a:avLst/>
            <a:gdLst/>
            <a:ahLst/>
            <a:cxnLst/>
            <a:rect r="r" b="b" t="t" l="l"/>
            <a:pathLst>
              <a:path h="1508614" w="885962">
                <a:moveTo>
                  <a:pt x="0" y="0"/>
                </a:moveTo>
                <a:lnTo>
                  <a:pt x="885962" y="0"/>
                </a:lnTo>
                <a:lnTo>
                  <a:pt x="88596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1320622" y="5990729"/>
            <a:ext cx="3489158" cy="1727254"/>
          </a:xfrm>
          <a:custGeom>
            <a:avLst/>
            <a:gdLst/>
            <a:ahLst/>
            <a:cxnLst/>
            <a:rect r="r" b="b" t="t" l="l"/>
            <a:pathLst>
              <a:path h="1727254" w="3489158">
                <a:moveTo>
                  <a:pt x="0" y="0"/>
                </a:moveTo>
                <a:lnTo>
                  <a:pt x="3489158" y="0"/>
                </a:lnTo>
                <a:lnTo>
                  <a:pt x="348915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1594592" y="6220840"/>
            <a:ext cx="3474720" cy="12026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Intervención humana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Validación manual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 escalamiento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14580086" y="4493047"/>
            <a:ext cx="1968804" cy="2579949"/>
          </a:xfrm>
          <a:custGeom>
            <a:avLst/>
            <a:gdLst/>
            <a:ahLst/>
            <a:cxnLst/>
            <a:rect r="r" b="b" t="t" l="l"/>
            <a:pathLst>
              <a:path h="2579949" w="1968804">
                <a:moveTo>
                  <a:pt x="0" y="0"/>
                </a:moveTo>
                <a:lnTo>
                  <a:pt x="1968804" y="0"/>
                </a:lnTo>
                <a:lnTo>
                  <a:pt x="1968804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645330" y="7925691"/>
            <a:ext cx="16997340" cy="1727254"/>
          </a:xfrm>
          <a:custGeom>
            <a:avLst/>
            <a:gdLst/>
            <a:ahLst/>
            <a:cxnLst/>
            <a:rect r="r" b="b" t="t" l="l"/>
            <a:pathLst>
              <a:path h="1727254" w="16997340">
                <a:moveTo>
                  <a:pt x="0" y="0"/>
                </a:moveTo>
                <a:lnTo>
                  <a:pt x="16997340" y="0"/>
                </a:lnTo>
                <a:lnTo>
                  <a:pt x="16997340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225296" y="8379372"/>
            <a:ext cx="2322576" cy="2742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3"/>
              </a:lnSpc>
            </a:pPr>
            <a:r>
              <a:rPr lang="en-US" sz="2023" b="true">
                <a:solidFill>
                  <a:srgbClr val="215A4E"/>
                </a:solidFill>
                <a:latin typeface="Inter Bold"/>
                <a:ea typeface="Inter Bold"/>
                <a:cs typeface="Inter Bold"/>
                <a:sym typeface="Inter Bold"/>
              </a:rPr>
              <a:t>Stack tecnológico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25296" y="8873148"/>
            <a:ext cx="9564624" cy="2742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3"/>
              </a:lnSpc>
            </a:pPr>
            <a:r>
              <a:rPr lang="en-US" sz="2023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OCR • Validación • Reglas de negocio • Base de datos • Logs • Orquestación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5087600" y="3475856"/>
            <a:ext cx="2450592" cy="798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b="true" sz="2299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Decisión automatizada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4041648" y="6150476"/>
            <a:ext cx="6473952" cy="798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true">
                <a:solidFill>
                  <a:srgbClr val="C6D43F"/>
                </a:solidFill>
                <a:latin typeface="Inter Bold"/>
                <a:ea typeface="Inter Bold"/>
                <a:cs typeface="Inter Bold"/>
                <a:sym typeface="Inter Bold"/>
              </a:rPr>
              <a:t>Almacenamiento de estado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Base de datos y sistema de logs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41248" y="1185807"/>
            <a:ext cx="11100816" cy="9602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80"/>
              </a:lnSpc>
            </a:pPr>
            <a:r>
              <a:rPr lang="en-US" sz="7280" b="true">
                <a:solidFill>
                  <a:srgbClr val="0D3730"/>
                </a:solidFill>
                <a:latin typeface="Inter Bold"/>
                <a:ea typeface="Inter Bold"/>
                <a:cs typeface="Inter Bold"/>
                <a:sym typeface="Inter Bold"/>
              </a:rPr>
              <a:t>Decisiones de ingeniería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45330" y="2569017"/>
            <a:ext cx="4145426" cy="1082267"/>
          </a:xfrm>
          <a:custGeom>
            <a:avLst/>
            <a:gdLst/>
            <a:ahLst/>
            <a:cxnLst/>
            <a:rect r="r" b="b" t="t" l="l"/>
            <a:pathLst>
              <a:path h="1082267" w="4145426">
                <a:moveTo>
                  <a:pt x="0" y="0"/>
                </a:moveTo>
                <a:lnTo>
                  <a:pt x="4145426" y="0"/>
                </a:lnTo>
                <a:lnTo>
                  <a:pt x="4145426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572000" y="2569017"/>
            <a:ext cx="4572000" cy="1082267"/>
          </a:xfrm>
          <a:custGeom>
            <a:avLst/>
            <a:gdLst/>
            <a:ahLst/>
            <a:cxnLst/>
            <a:rect r="r" b="b" t="t" l="l"/>
            <a:pathLst>
              <a:path h="1082267" w="4572000">
                <a:moveTo>
                  <a:pt x="0" y="0"/>
                </a:moveTo>
                <a:lnTo>
                  <a:pt x="4572000" y="0"/>
                </a:lnTo>
                <a:lnTo>
                  <a:pt x="4572000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925244" y="2569017"/>
            <a:ext cx="4145426" cy="1082267"/>
          </a:xfrm>
          <a:custGeom>
            <a:avLst/>
            <a:gdLst/>
            <a:ahLst/>
            <a:cxnLst/>
            <a:rect r="r" b="b" t="t" l="l"/>
            <a:pathLst>
              <a:path h="1082267" w="4145426">
                <a:moveTo>
                  <a:pt x="0" y="0"/>
                </a:moveTo>
                <a:lnTo>
                  <a:pt x="4145426" y="0"/>
                </a:lnTo>
                <a:lnTo>
                  <a:pt x="4145426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840976" y="2569017"/>
            <a:ext cx="4801694" cy="1082267"/>
          </a:xfrm>
          <a:custGeom>
            <a:avLst/>
            <a:gdLst/>
            <a:ahLst/>
            <a:cxnLst/>
            <a:rect r="r" b="b" t="t" l="l"/>
            <a:pathLst>
              <a:path h="1082267" w="4801694">
                <a:moveTo>
                  <a:pt x="0" y="0"/>
                </a:moveTo>
                <a:lnTo>
                  <a:pt x="4801694" y="0"/>
                </a:lnTo>
                <a:lnTo>
                  <a:pt x="4801694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645330" y="3421712"/>
            <a:ext cx="8498670" cy="5159898"/>
          </a:xfrm>
          <a:custGeom>
            <a:avLst/>
            <a:gdLst/>
            <a:ahLst/>
            <a:cxnLst/>
            <a:rect r="r" b="b" t="t" l="l"/>
            <a:pathLst>
              <a:path h="5159898" w="8498670">
                <a:moveTo>
                  <a:pt x="0" y="0"/>
                </a:moveTo>
                <a:lnTo>
                  <a:pt x="8498670" y="0"/>
                </a:lnTo>
                <a:lnTo>
                  <a:pt x="8498670" y="5159898"/>
                </a:lnTo>
                <a:lnTo>
                  <a:pt x="0" y="515989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45330" y="8997026"/>
            <a:ext cx="16997340" cy="218640"/>
          </a:xfrm>
          <a:custGeom>
            <a:avLst/>
            <a:gdLst/>
            <a:ahLst/>
            <a:cxnLst/>
            <a:rect r="r" b="b" t="t" l="l"/>
            <a:pathLst>
              <a:path h="218640" w="16997340">
                <a:moveTo>
                  <a:pt x="0" y="0"/>
                </a:moveTo>
                <a:lnTo>
                  <a:pt x="16997340" y="0"/>
                </a:lnTo>
                <a:lnTo>
                  <a:pt x="16997340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47421"/>
            <a:ext cx="6565392" cy="11646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62"/>
              </a:lnSpc>
            </a:pPr>
            <a:r>
              <a:rPr lang="en-US" sz="8762" spc="-175" b="true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Trazabilidad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69264" y="2505803"/>
            <a:ext cx="6035040" cy="491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75"/>
              </a:lnSpc>
            </a:pPr>
            <a:r>
              <a:rPr lang="en-US" sz="322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Línea de tiempo de una factura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84832" y="3946100"/>
            <a:ext cx="512064" cy="523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2"/>
              </a:lnSpc>
            </a:pPr>
            <a:r>
              <a:rPr lang="en-US" sz="3401" b="true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01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520354" y="4711687"/>
            <a:ext cx="1750048" cy="1727254"/>
          </a:xfrm>
          <a:custGeom>
            <a:avLst/>
            <a:gdLst/>
            <a:ahLst/>
            <a:cxnLst/>
            <a:rect r="r" b="b" t="t" l="l"/>
            <a:pathLst>
              <a:path h="1727254" w="1750048">
                <a:moveTo>
                  <a:pt x="0" y="0"/>
                </a:moveTo>
                <a:lnTo>
                  <a:pt x="1750048" y="0"/>
                </a:lnTo>
                <a:lnTo>
                  <a:pt x="1750048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259464" y="5356674"/>
            <a:ext cx="1531292" cy="437279"/>
          </a:xfrm>
          <a:custGeom>
            <a:avLst/>
            <a:gdLst/>
            <a:ahLst/>
            <a:cxnLst/>
            <a:rect r="r" b="b" t="t" l="l"/>
            <a:pathLst>
              <a:path h="437279" w="1531292">
                <a:moveTo>
                  <a:pt x="0" y="0"/>
                </a:moveTo>
                <a:lnTo>
                  <a:pt x="1531292" y="0"/>
                </a:lnTo>
                <a:lnTo>
                  <a:pt x="153129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011680" y="6608192"/>
            <a:ext cx="694944" cy="4249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5"/>
              </a:lnSpc>
            </a:pPr>
            <a:r>
              <a:rPr lang="en-US" sz="2788" b="true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PDF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09344" y="7799565"/>
            <a:ext cx="1499616" cy="3156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0 reintentos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779818" y="4711687"/>
            <a:ext cx="1760986" cy="1727254"/>
          </a:xfrm>
          <a:custGeom>
            <a:avLst/>
            <a:gdLst/>
            <a:ahLst/>
            <a:cxnLst/>
            <a:rect r="r" b="b" t="t" l="l"/>
            <a:pathLst>
              <a:path h="1727254" w="1760986">
                <a:moveTo>
                  <a:pt x="0" y="0"/>
                </a:moveTo>
                <a:lnTo>
                  <a:pt x="1760986" y="0"/>
                </a:lnTo>
                <a:lnTo>
                  <a:pt x="1760986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529866" y="5356674"/>
            <a:ext cx="1531292" cy="437279"/>
          </a:xfrm>
          <a:custGeom>
            <a:avLst/>
            <a:gdLst/>
            <a:ahLst/>
            <a:cxnLst/>
            <a:rect r="r" b="b" t="t" l="l"/>
            <a:pathLst>
              <a:path h="437279" w="1531292">
                <a:moveTo>
                  <a:pt x="0" y="0"/>
                </a:moveTo>
                <a:lnTo>
                  <a:pt x="1531292" y="0"/>
                </a:lnTo>
                <a:lnTo>
                  <a:pt x="153129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5340096" y="6612251"/>
            <a:ext cx="786384" cy="4263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7"/>
              </a:lnSpc>
            </a:pPr>
            <a:r>
              <a:rPr lang="en-US" sz="2823" b="true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OCR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065776" y="7799565"/>
            <a:ext cx="1316736" cy="3156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1 reintento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778240" y="3978896"/>
            <a:ext cx="512064" cy="457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5"/>
              </a:lnSpc>
            </a:pPr>
            <a:r>
              <a:rPr lang="en-US" sz="2971" b="true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03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8268976" y="4711687"/>
            <a:ext cx="1750048" cy="1727254"/>
          </a:xfrm>
          <a:custGeom>
            <a:avLst/>
            <a:gdLst/>
            <a:ahLst/>
            <a:cxnLst/>
            <a:rect r="r" b="b" t="t" l="l"/>
            <a:pathLst>
              <a:path h="1727254" w="1750048">
                <a:moveTo>
                  <a:pt x="0" y="0"/>
                </a:moveTo>
                <a:lnTo>
                  <a:pt x="1750048" y="0"/>
                </a:lnTo>
                <a:lnTo>
                  <a:pt x="1750048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8487732" y="5138034"/>
            <a:ext cx="1093780" cy="863627"/>
          </a:xfrm>
          <a:custGeom>
            <a:avLst/>
            <a:gdLst/>
            <a:ahLst/>
            <a:cxnLst/>
            <a:rect r="r" b="b" t="t" l="l"/>
            <a:pathLst>
              <a:path h="863627" w="1093780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8284464" y="6624590"/>
            <a:ext cx="1682496" cy="392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2"/>
              </a:lnSpc>
            </a:pPr>
            <a:r>
              <a:rPr lang="en-US" sz="2543" b="true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Validación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339328" y="7799565"/>
            <a:ext cx="1499616" cy="3156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0 reintentos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1528440" y="4711687"/>
            <a:ext cx="1760986" cy="1727254"/>
          </a:xfrm>
          <a:custGeom>
            <a:avLst/>
            <a:gdLst/>
            <a:ahLst/>
            <a:cxnLst/>
            <a:rect r="r" b="b" t="t" l="l"/>
            <a:pathLst>
              <a:path h="1727254" w="1760986">
                <a:moveTo>
                  <a:pt x="0" y="0"/>
                </a:moveTo>
                <a:lnTo>
                  <a:pt x="1760986" y="0"/>
                </a:lnTo>
                <a:lnTo>
                  <a:pt x="1760986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1965952" y="5138034"/>
            <a:ext cx="885962" cy="863627"/>
          </a:xfrm>
          <a:custGeom>
            <a:avLst/>
            <a:gdLst/>
            <a:ahLst/>
            <a:cxnLst/>
            <a:rect r="r" b="b" t="t" l="l"/>
            <a:pathLst>
              <a:path h="863627" w="885962">
                <a:moveTo>
                  <a:pt x="0" y="0"/>
                </a:moveTo>
                <a:lnTo>
                  <a:pt x="885962" y="0"/>
                </a:lnTo>
                <a:lnTo>
                  <a:pt x="885962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1192256" y="6628649"/>
            <a:ext cx="2487168" cy="393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36"/>
              </a:lnSpc>
            </a:pPr>
            <a:r>
              <a:rPr lang="en-US" sz="2613" b="true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Regla o modelo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015216" y="7199900"/>
            <a:ext cx="786384" cy="382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94"/>
              </a:lnSpc>
            </a:pPr>
            <a:r>
              <a:rPr lang="en-US" sz="2578" b="true">
                <a:solidFill>
                  <a:srgbClr val="D8D800"/>
                </a:solidFill>
                <a:latin typeface="Inter Bold"/>
                <a:ea typeface="Inter Bold"/>
                <a:cs typeface="Inter Bold"/>
                <a:sym typeface="Inter Bold"/>
              </a:rPr>
              <a:t>3.5 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86032" y="7799565"/>
            <a:ext cx="1499616" cy="3156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2 reintentos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5489936" y="3973430"/>
            <a:ext cx="512064" cy="468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17"/>
              </a:lnSpc>
            </a:pPr>
            <a:r>
              <a:rPr lang="en-US" sz="3014" b="true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05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14798842" y="4711687"/>
            <a:ext cx="1750048" cy="1727254"/>
          </a:xfrm>
          <a:custGeom>
            <a:avLst/>
            <a:gdLst/>
            <a:ahLst/>
            <a:cxnLst/>
            <a:rect r="r" b="b" t="t" l="l"/>
            <a:pathLst>
              <a:path h="1727254" w="1750048">
                <a:moveTo>
                  <a:pt x="0" y="0"/>
                </a:moveTo>
                <a:lnTo>
                  <a:pt x="1750048" y="0"/>
                </a:lnTo>
                <a:lnTo>
                  <a:pt x="1750048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5236354" y="5138034"/>
            <a:ext cx="1093780" cy="863627"/>
          </a:xfrm>
          <a:custGeom>
            <a:avLst/>
            <a:gdLst/>
            <a:ahLst/>
            <a:cxnLst/>
            <a:rect r="r" b="b" t="t" l="l"/>
            <a:pathLst>
              <a:path h="863627" w="1093780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14703552" y="6624590"/>
            <a:ext cx="2157984" cy="392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2"/>
              </a:lnSpc>
            </a:pPr>
            <a:r>
              <a:rPr lang="en-US" sz="2543" b="true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Decisión final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5014448" y="7799565"/>
            <a:ext cx="1499616" cy="3156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0 reintentos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864086" y="8997026"/>
            <a:ext cx="448450" cy="437279"/>
          </a:xfrm>
          <a:custGeom>
            <a:avLst/>
            <a:gdLst/>
            <a:ahLst/>
            <a:cxnLst/>
            <a:rect r="r" b="b" t="t" l="l"/>
            <a:pathLst>
              <a:path h="437279" w="448450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1444752" y="9073746"/>
            <a:ext cx="658368" cy="327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7"/>
              </a:lnSpc>
            </a:pPr>
            <a:r>
              <a:rPr lang="en-US" sz="2197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Éxito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2603196" y="8997026"/>
            <a:ext cx="667206" cy="437279"/>
          </a:xfrm>
          <a:custGeom>
            <a:avLst/>
            <a:gdLst/>
            <a:ahLst/>
            <a:cxnLst/>
            <a:rect r="r" b="b" t="t" l="l"/>
            <a:pathLst>
              <a:path h="437279" w="667206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3236976" y="9069687"/>
            <a:ext cx="1133856" cy="3265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44"/>
              </a:lnSpc>
            </a:pPr>
            <a:r>
              <a:rPr lang="en-US" sz="2120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Atención</a:t>
            </a: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4998574" y="8997026"/>
            <a:ext cx="448450" cy="437279"/>
          </a:xfrm>
          <a:custGeom>
            <a:avLst/>
            <a:gdLst/>
            <a:ahLst/>
            <a:cxnLst/>
            <a:rect r="r" b="b" t="t" l="l"/>
            <a:pathLst>
              <a:path h="437279" w="448450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5522976" y="9062814"/>
            <a:ext cx="694944" cy="3498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29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Error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413248" y="3982955"/>
            <a:ext cx="512064" cy="459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8"/>
              </a:lnSpc>
            </a:pPr>
            <a:r>
              <a:rPr lang="en-US" sz="3057" b="true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02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124944" y="3984362"/>
            <a:ext cx="512064" cy="4468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13"/>
              </a:lnSpc>
            </a:pPr>
            <a:r>
              <a:rPr lang="en-US" sz="2928" b="true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04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956816" y="7173977"/>
            <a:ext cx="786384" cy="4249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5"/>
              </a:lnSpc>
            </a:pPr>
            <a:r>
              <a:rPr lang="en-US" sz="2788" b="true">
                <a:solidFill>
                  <a:srgbClr val="219B6E"/>
                </a:solidFill>
                <a:latin typeface="Inter Bold"/>
                <a:ea typeface="Inter Bold"/>
                <a:cs typeface="Inter Bold"/>
                <a:sym typeface="Inter Bold"/>
              </a:rPr>
              <a:t>1.2 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285232" y="7199900"/>
            <a:ext cx="786384" cy="382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94"/>
              </a:lnSpc>
            </a:pPr>
            <a:r>
              <a:rPr lang="en-US" sz="2578" b="true">
                <a:solidFill>
                  <a:srgbClr val="219B6E"/>
                </a:solidFill>
                <a:latin typeface="Inter Bold"/>
                <a:ea typeface="Inter Bold"/>
                <a:cs typeface="Inter Bold"/>
                <a:sym typeface="Inter Bold"/>
              </a:rPr>
              <a:t>2.8 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8686800" y="7173977"/>
            <a:ext cx="786384" cy="4249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03"/>
              </a:lnSpc>
            </a:pPr>
            <a:r>
              <a:rPr lang="en-US" sz="2753" b="true">
                <a:solidFill>
                  <a:srgbClr val="219B6E"/>
                </a:solidFill>
                <a:latin typeface="Inter Bold"/>
                <a:ea typeface="Inter Bold"/>
                <a:cs typeface="Inter Bold"/>
                <a:sym typeface="Inter Bold"/>
              </a:rPr>
              <a:t>1.6 s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5361920" y="7195841"/>
            <a:ext cx="786384" cy="3812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10"/>
              </a:lnSpc>
            </a:pPr>
            <a:r>
              <a:rPr lang="en-US" sz="2508" b="true">
                <a:solidFill>
                  <a:srgbClr val="219B6E"/>
                </a:solidFill>
                <a:latin typeface="Inter Bold"/>
                <a:ea typeface="Inter Bold"/>
                <a:cs typeface="Inter Bold"/>
                <a:sym typeface="Inter Bold"/>
              </a:rPr>
              <a:t>0.9 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41248" y="1064036"/>
            <a:ext cx="6949440" cy="1039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6"/>
              </a:lnSpc>
            </a:pPr>
            <a:r>
              <a:rPr lang="en-US" sz="7806" b="true">
                <a:solidFill>
                  <a:srgbClr val="0B4B39"/>
                </a:solidFill>
                <a:latin typeface="Inter Bold"/>
                <a:ea typeface="Inter Bold"/>
                <a:cs typeface="Inter Bold"/>
                <a:sym typeface="Inter Bold"/>
              </a:rPr>
              <a:t>Escala y coste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45330" y="3214004"/>
            <a:ext cx="4801694" cy="6220301"/>
          </a:xfrm>
          <a:custGeom>
            <a:avLst/>
            <a:gdLst/>
            <a:ahLst/>
            <a:cxnLst/>
            <a:rect r="r" b="b" t="t" l="l"/>
            <a:pathLst>
              <a:path h="6220301" w="4801694">
                <a:moveTo>
                  <a:pt x="0" y="0"/>
                </a:moveTo>
                <a:lnTo>
                  <a:pt x="4801694" y="0"/>
                </a:lnTo>
                <a:lnTo>
                  <a:pt x="4801694" y="6220301"/>
                </a:lnTo>
                <a:lnTo>
                  <a:pt x="0" y="622030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371600" y="4029021"/>
            <a:ext cx="2999232" cy="79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2"/>
              </a:lnSpc>
            </a:pPr>
            <a:r>
              <a:rPr lang="en-US" sz="2497" b="true">
                <a:solidFill>
                  <a:srgbClr val="FFF9F0"/>
                </a:solidFill>
                <a:latin typeface="Inter Bold"/>
                <a:ea typeface="Inter Bold"/>
                <a:cs typeface="Inter Bold"/>
                <a:sym typeface="Inter Bold"/>
              </a:rPr>
              <a:t>Capacidad (facturas por hora)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082842" y="5138034"/>
            <a:ext cx="3926670" cy="229572"/>
          </a:xfrm>
          <a:custGeom>
            <a:avLst/>
            <a:gdLst/>
            <a:ahLst/>
            <a:cxnLst/>
            <a:rect r="r" b="b" t="t" l="l"/>
            <a:pathLst>
              <a:path h="229572" w="3926670">
                <a:moveTo>
                  <a:pt x="0" y="0"/>
                </a:moveTo>
                <a:lnTo>
                  <a:pt x="3926670" y="0"/>
                </a:lnTo>
                <a:lnTo>
                  <a:pt x="3926670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371600" y="5838316"/>
            <a:ext cx="1700784" cy="854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04"/>
              </a:lnSpc>
            </a:pPr>
            <a:r>
              <a:rPr lang="en-US" sz="2723" b="true">
                <a:solidFill>
                  <a:srgbClr val="FFF9F0"/>
                </a:solidFill>
                <a:latin typeface="Inter Bold"/>
                <a:ea typeface="Inter Bold"/>
                <a:cs typeface="Inter Bold"/>
                <a:sym typeface="Inter Bold"/>
              </a:rPr>
              <a:t>Hardware utilizado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082842" y="7062064"/>
            <a:ext cx="3926670" cy="229572"/>
          </a:xfrm>
          <a:custGeom>
            <a:avLst/>
            <a:gdLst/>
            <a:ahLst/>
            <a:cxnLst/>
            <a:rect r="r" b="b" t="t" l="l"/>
            <a:pathLst>
              <a:path h="229572" w="3926670">
                <a:moveTo>
                  <a:pt x="0" y="0"/>
                </a:moveTo>
                <a:lnTo>
                  <a:pt x="3926670" y="0"/>
                </a:lnTo>
                <a:lnTo>
                  <a:pt x="3926670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371600" y="7803573"/>
            <a:ext cx="3218688" cy="833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23"/>
              </a:lnSpc>
            </a:pPr>
            <a:r>
              <a:rPr lang="en-US" sz="2659" b="true">
                <a:solidFill>
                  <a:srgbClr val="FFF9F0"/>
                </a:solidFill>
                <a:latin typeface="Inter Bold"/>
                <a:ea typeface="Inter Bold"/>
                <a:cs typeface="Inter Bold"/>
                <a:sym typeface="Inter Bold"/>
              </a:rPr>
              <a:t>Fórmula o coste unitario por factura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5217330" y="2569017"/>
            <a:ext cx="11769072" cy="1082267"/>
          </a:xfrm>
          <a:custGeom>
            <a:avLst/>
            <a:gdLst/>
            <a:ahLst/>
            <a:cxnLst/>
            <a:rect r="r" b="b" t="t" l="l"/>
            <a:pathLst>
              <a:path h="1082267" w="11769072">
                <a:moveTo>
                  <a:pt x="0" y="0"/>
                </a:moveTo>
                <a:lnTo>
                  <a:pt x="11769072" y="0"/>
                </a:lnTo>
                <a:lnTo>
                  <a:pt x="11769072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7534656" y="2793417"/>
            <a:ext cx="1316736" cy="48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03"/>
              </a:lnSpc>
            </a:pPr>
            <a:r>
              <a:rPr lang="en-US" sz="2788" b="true">
                <a:solidFill>
                  <a:srgbClr val="FFF9F0"/>
                </a:solidFill>
                <a:latin typeface="Inter Bold"/>
                <a:ea typeface="Inter Bold"/>
                <a:cs typeface="Inter Bold"/>
                <a:sym typeface="Inter Bold"/>
              </a:rPr>
              <a:t>Medido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130784" y="2807964"/>
            <a:ext cx="1609344" cy="4682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54"/>
              </a:lnSpc>
            </a:pPr>
            <a:r>
              <a:rPr lang="en-US" sz="2753" b="true">
                <a:solidFill>
                  <a:srgbClr val="FFF9F0"/>
                </a:solidFill>
                <a:latin typeface="Inter Bold"/>
                <a:ea typeface="Inter Bold"/>
                <a:cs typeface="Inter Bold"/>
                <a:sym typeface="Inter Bold"/>
              </a:rPr>
              <a:t>Estimado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5217330" y="3421712"/>
            <a:ext cx="11769072" cy="6012593"/>
          </a:xfrm>
          <a:custGeom>
            <a:avLst/>
            <a:gdLst/>
            <a:ahLst/>
            <a:cxnLst/>
            <a:rect r="r" b="b" t="t" l="l"/>
            <a:pathLst>
              <a:path h="6012593" w="11769072">
                <a:moveTo>
                  <a:pt x="0" y="0"/>
                </a:moveTo>
                <a:lnTo>
                  <a:pt x="11769072" y="0"/>
                </a:lnTo>
                <a:lnTo>
                  <a:pt x="11769072" y="6012593"/>
                </a:lnTo>
                <a:lnTo>
                  <a:pt x="0" y="60125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654842" y="5138034"/>
            <a:ext cx="10894048" cy="229572"/>
          </a:xfrm>
          <a:custGeom>
            <a:avLst/>
            <a:gdLst/>
            <a:ahLst/>
            <a:cxnLst/>
            <a:rect r="r" b="b" t="t" l="l"/>
            <a:pathLst>
              <a:path h="229572" w="10894048">
                <a:moveTo>
                  <a:pt x="0" y="0"/>
                </a:moveTo>
                <a:lnTo>
                  <a:pt x="10894048" y="0"/>
                </a:lnTo>
                <a:lnTo>
                  <a:pt x="1089404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6419088" y="5838213"/>
            <a:ext cx="3547872" cy="8546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4"/>
              </a:lnSpc>
            </a:pPr>
            <a:r>
              <a:rPr lang="en-US" sz="2691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1 servidor</a:t>
            </a:r>
          </a:p>
          <a:p>
            <a:pPr algn="ctr">
              <a:lnSpc>
                <a:spcPts val="3364"/>
              </a:lnSpc>
            </a:pPr>
            <a:r>
              <a:rPr lang="en-US" sz="2691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(8 vCPU, 32 GB RAM)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5654842" y="7062064"/>
            <a:ext cx="10894048" cy="229572"/>
          </a:xfrm>
          <a:custGeom>
            <a:avLst/>
            <a:gdLst/>
            <a:ahLst/>
            <a:cxnLst/>
            <a:rect r="r" b="b" t="t" l="l"/>
            <a:pathLst>
              <a:path h="229572" w="10894048">
                <a:moveTo>
                  <a:pt x="0" y="0"/>
                </a:moveTo>
                <a:lnTo>
                  <a:pt x="10894048" y="0"/>
                </a:lnTo>
                <a:lnTo>
                  <a:pt x="10894048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6473952" y="7792846"/>
            <a:ext cx="3438144" cy="854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04"/>
              </a:lnSpc>
            </a:pPr>
            <a:r>
              <a:rPr lang="en-US" sz="2723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Coste total /</a:t>
            </a:r>
          </a:p>
          <a:p>
            <a:pPr algn="ctr">
              <a:lnSpc>
                <a:spcPts val="3404"/>
              </a:lnSpc>
            </a:pPr>
            <a:r>
              <a:rPr lang="en-US" sz="2723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facturas procesadas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0883110" y="3640352"/>
            <a:ext cx="229694" cy="5367606"/>
          </a:xfrm>
          <a:custGeom>
            <a:avLst/>
            <a:gdLst/>
            <a:ahLst/>
            <a:cxnLst/>
            <a:rect r="r" b="b" t="t" l="l"/>
            <a:pathLst>
              <a:path h="5367606" w="229694">
                <a:moveTo>
                  <a:pt x="0" y="0"/>
                </a:moveTo>
                <a:lnTo>
                  <a:pt x="229694" y="0"/>
                </a:lnTo>
                <a:lnTo>
                  <a:pt x="229694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7845552" y="4164480"/>
            <a:ext cx="694944" cy="4584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16"/>
              </a:lnSpc>
            </a:pPr>
            <a:r>
              <a:rPr lang="en-US" sz="2893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500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710160" y="4179138"/>
            <a:ext cx="2450592" cy="438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5"/>
              </a:lnSpc>
            </a:pPr>
            <a:r>
              <a:rPr lang="en-US" sz="2788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[COMPLETAR]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710160" y="6082233"/>
            <a:ext cx="2450592" cy="438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5"/>
              </a:lnSpc>
            </a:pPr>
            <a:r>
              <a:rPr lang="en-US" sz="2788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[COMPLETAR]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710160" y="8026476"/>
            <a:ext cx="2450592" cy="438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5"/>
              </a:lnSpc>
            </a:pPr>
            <a:r>
              <a:rPr lang="en-US" sz="2788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[COMPLETAR]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3312" y="1530504"/>
            <a:ext cx="6583680" cy="13684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21"/>
              </a:lnSpc>
            </a:pPr>
            <a:r>
              <a:rPr lang="en-US" sz="10221" spc="-204" b="true">
                <a:solidFill>
                  <a:srgbClr val="00503F"/>
                </a:solidFill>
                <a:latin typeface="Inter Bold"/>
                <a:ea typeface="Inter Bold"/>
                <a:cs typeface="Inter Bold"/>
                <a:sym typeface="Inter Bold"/>
              </a:rPr>
              <a:t>Resiliencia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82842" y="6854356"/>
            <a:ext cx="7634584" cy="218640"/>
          </a:xfrm>
          <a:custGeom>
            <a:avLst/>
            <a:gdLst/>
            <a:ahLst/>
            <a:cxnLst/>
            <a:rect r="r" b="b" t="t" l="l"/>
            <a:pathLst>
              <a:path h="218640" w="7634584">
                <a:moveTo>
                  <a:pt x="0" y="0"/>
                </a:moveTo>
                <a:lnTo>
                  <a:pt x="7634584" y="0"/>
                </a:lnTo>
                <a:lnTo>
                  <a:pt x="7634584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925244" y="2776725"/>
            <a:ext cx="9362756" cy="7083928"/>
          </a:xfrm>
          <a:custGeom>
            <a:avLst/>
            <a:gdLst/>
            <a:ahLst/>
            <a:cxnLst/>
            <a:rect r="r" b="b" t="t" l="l"/>
            <a:pathLst>
              <a:path h="7083928" w="9362756">
                <a:moveTo>
                  <a:pt x="0" y="0"/>
                </a:moveTo>
                <a:lnTo>
                  <a:pt x="9362756" y="0"/>
                </a:lnTo>
                <a:lnTo>
                  <a:pt x="9362756" y="7083927"/>
                </a:lnTo>
                <a:lnTo>
                  <a:pt x="0" y="70839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353312" y="3324307"/>
            <a:ext cx="6364224" cy="2864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86"/>
              </a:lnSpc>
            </a:pP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Estado </a:t>
            </a:r>
            <a:r>
              <a:rPr lang="en-US" sz="2893" b="true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conservado</a:t>
            </a: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 ante fallos</a:t>
            </a:r>
          </a:p>
          <a:p>
            <a:pPr algn="l">
              <a:lnSpc>
                <a:spcPts val="5786"/>
              </a:lnSpc>
            </a:pPr>
            <a:r>
              <a:rPr lang="en-US" sz="2893" b="true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Sin duplicados</a:t>
            </a: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 ni pérdida de datos</a:t>
            </a:r>
          </a:p>
          <a:p>
            <a:pPr algn="l">
              <a:lnSpc>
                <a:spcPts val="5786"/>
              </a:lnSpc>
            </a:pP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Degradación </a:t>
            </a:r>
            <a:r>
              <a:rPr lang="en-US" sz="2893" b="true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controlada</a:t>
            </a: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 del servicio</a:t>
            </a:r>
          </a:p>
          <a:p>
            <a:pPr algn="l">
              <a:lnSpc>
                <a:spcPts val="5786"/>
              </a:lnSpc>
            </a:pPr>
            <a:r>
              <a:rPr lang="en-US" sz="2893" b="true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Recuperación</a:t>
            </a: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 automática y segura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53312" y="7526803"/>
            <a:ext cx="7498080" cy="1181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29"/>
              </a:lnSpc>
            </a:pPr>
            <a:r>
              <a:rPr lang="en-US" sz="2683" b="true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Lote 2: </a:t>
            </a:r>
            <a:r>
              <a:rPr lang="en-US" sz="268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+40 facturas, ERP actualizado</a:t>
            </a:r>
          </a:p>
          <a:p>
            <a:pPr algn="l">
              <a:lnSpc>
                <a:spcPts val="4829"/>
              </a:lnSpc>
            </a:pPr>
            <a:r>
              <a:rPr lang="en-US" sz="268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Reprocesa decisiones y </a:t>
            </a:r>
            <a:r>
              <a:rPr lang="en-US" sz="2683" b="true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se integra</a:t>
            </a:r>
            <a:r>
              <a:rPr lang="en-US" sz="268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 sin fricción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114032" y="399872"/>
            <a:ext cx="4059936" cy="1649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43"/>
              </a:lnSpc>
            </a:pPr>
            <a:r>
              <a:rPr lang="en-US" sz="10702" b="true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Cierre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654842" y="2142670"/>
            <a:ext cx="6978316" cy="218640"/>
          </a:xfrm>
          <a:custGeom>
            <a:avLst/>
            <a:gdLst/>
            <a:ahLst/>
            <a:cxnLst/>
            <a:rect r="r" b="b" t="t" l="l"/>
            <a:pathLst>
              <a:path h="218640" w="6978316">
                <a:moveTo>
                  <a:pt x="0" y="0"/>
                </a:moveTo>
                <a:lnTo>
                  <a:pt x="6978316" y="0"/>
                </a:lnTo>
                <a:lnTo>
                  <a:pt x="6978316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126480" y="2539244"/>
            <a:ext cx="6108192" cy="404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68"/>
              </a:lnSpc>
            </a:pPr>
            <a:r>
              <a:rPr lang="en-US" sz="2723" b="true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Lo esencial que nos lleva adelante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739110" y="3421712"/>
            <a:ext cx="4582938" cy="2798589"/>
          </a:xfrm>
          <a:custGeom>
            <a:avLst/>
            <a:gdLst/>
            <a:ahLst/>
            <a:cxnLst/>
            <a:rect r="r" b="b" t="t" l="l"/>
            <a:pathLst>
              <a:path h="2798589" w="4582938">
                <a:moveTo>
                  <a:pt x="0" y="0"/>
                </a:moveTo>
                <a:lnTo>
                  <a:pt x="4582938" y="0"/>
                </a:lnTo>
                <a:lnTo>
                  <a:pt x="4582938" y="2798589"/>
                </a:lnTo>
                <a:lnTo>
                  <a:pt x="0" y="27985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267712" y="3736763"/>
            <a:ext cx="1115568" cy="11683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59"/>
              </a:lnSpc>
            </a:pPr>
            <a:r>
              <a:rPr lang="en-US" sz="7632" b="true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267712" y="5001384"/>
            <a:ext cx="3566160" cy="284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0"/>
              </a:lnSpc>
            </a:pPr>
            <a:r>
              <a:rPr lang="en-US" sz="1900" b="true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Resolvemos un problema real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267712" y="5466029"/>
            <a:ext cx="2706624" cy="260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8"/>
              </a:lnSpc>
            </a:pPr>
            <a:r>
              <a:rPr lang="en-US" sz="1690">
                <a:solidFill>
                  <a:srgbClr val="134937"/>
                </a:solidFill>
                <a:latin typeface="Inter Light"/>
                <a:ea typeface="Inter Light"/>
                <a:cs typeface="Inter Light"/>
                <a:sym typeface="Inter Light"/>
              </a:rPr>
              <a:t>Simplificamos lo complejo.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6956440" y="3421712"/>
            <a:ext cx="4582938" cy="2798589"/>
          </a:xfrm>
          <a:custGeom>
            <a:avLst/>
            <a:gdLst/>
            <a:ahLst/>
            <a:cxnLst/>
            <a:rect r="r" b="b" t="t" l="l"/>
            <a:pathLst>
              <a:path h="2798589" w="4582938">
                <a:moveTo>
                  <a:pt x="0" y="0"/>
                </a:moveTo>
                <a:lnTo>
                  <a:pt x="4582938" y="0"/>
                </a:lnTo>
                <a:lnTo>
                  <a:pt x="4582938" y="2798589"/>
                </a:lnTo>
                <a:lnTo>
                  <a:pt x="0" y="27985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7424928" y="3714899"/>
            <a:ext cx="1298448" cy="1212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506"/>
              </a:lnSpc>
            </a:pPr>
            <a:r>
              <a:rPr lang="en-US" sz="7922" b="true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02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424928" y="4970523"/>
            <a:ext cx="3584448" cy="284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0"/>
              </a:lnSpc>
            </a:pPr>
            <a:r>
              <a:rPr lang="en-US" sz="1900" b="true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Decisiones basadas en datos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424928" y="5445455"/>
            <a:ext cx="3108960" cy="260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8"/>
              </a:lnSpc>
            </a:pPr>
            <a:r>
              <a:rPr lang="en-US" sz="1690">
                <a:solidFill>
                  <a:srgbClr val="134937"/>
                </a:solidFill>
                <a:latin typeface="Inter Light"/>
                <a:ea typeface="Inter Light"/>
                <a:cs typeface="Inter Light"/>
                <a:sym typeface="Inter Light"/>
              </a:rPr>
              <a:t>Menos tiempo, más precisión.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2184708" y="3421712"/>
            <a:ext cx="4582938" cy="2798589"/>
          </a:xfrm>
          <a:custGeom>
            <a:avLst/>
            <a:gdLst/>
            <a:ahLst/>
            <a:cxnLst/>
            <a:rect r="r" b="b" t="t" l="l"/>
            <a:pathLst>
              <a:path h="2798589" w="4582938">
                <a:moveTo>
                  <a:pt x="0" y="0"/>
                </a:moveTo>
                <a:lnTo>
                  <a:pt x="4582938" y="0"/>
                </a:lnTo>
                <a:lnTo>
                  <a:pt x="4582938" y="2798589"/>
                </a:lnTo>
                <a:lnTo>
                  <a:pt x="0" y="27985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2801600" y="3740822"/>
            <a:ext cx="1298448" cy="11697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98"/>
              </a:lnSpc>
            </a:pPr>
            <a:r>
              <a:rPr lang="en-US" sz="7748" b="true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03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801600" y="4970523"/>
            <a:ext cx="2578608" cy="284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0"/>
              </a:lnSpc>
            </a:pPr>
            <a:r>
              <a:rPr lang="en-US" sz="1900" b="true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Valor para el negocio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801600" y="5445455"/>
            <a:ext cx="3310128" cy="260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8"/>
              </a:lnSpc>
            </a:pPr>
            <a:r>
              <a:rPr lang="en-US" sz="1690">
                <a:solidFill>
                  <a:srgbClr val="134937"/>
                </a:solidFill>
                <a:latin typeface="Inter Light"/>
                <a:ea typeface="Inter Light"/>
                <a:cs typeface="Inter Light"/>
                <a:sym typeface="Inter Light"/>
              </a:rPr>
              <a:t>Impacto medible y sostenible.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3259464" y="6428009"/>
            <a:ext cx="11769072" cy="218640"/>
          </a:xfrm>
          <a:custGeom>
            <a:avLst/>
            <a:gdLst/>
            <a:ahLst/>
            <a:cxnLst/>
            <a:rect r="r" b="b" t="t" l="l"/>
            <a:pathLst>
              <a:path h="218640" w="11769072">
                <a:moveTo>
                  <a:pt x="0" y="0"/>
                </a:moveTo>
                <a:lnTo>
                  <a:pt x="11769072" y="0"/>
                </a:lnTo>
                <a:lnTo>
                  <a:pt x="11769072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3566160" y="6943692"/>
            <a:ext cx="2505456" cy="3498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299" b="true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Mejora adicional: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547104" y="6921506"/>
            <a:ext cx="8247888" cy="404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68"/>
              </a:lnSpc>
            </a:pPr>
            <a:r>
              <a:rPr lang="en-US" sz="2723" b="true">
                <a:solidFill>
                  <a:srgbClr val="00A66B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Automatización inteligente de alertas de pago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3259464" y="7499343"/>
            <a:ext cx="11769072" cy="218640"/>
          </a:xfrm>
          <a:custGeom>
            <a:avLst/>
            <a:gdLst/>
            <a:ahLst/>
            <a:cxnLst/>
            <a:rect r="r" b="b" t="t" l="l"/>
            <a:pathLst>
              <a:path h="218640" w="11769072">
                <a:moveTo>
                  <a:pt x="0" y="0"/>
                </a:moveTo>
                <a:lnTo>
                  <a:pt x="11769072" y="0"/>
                </a:lnTo>
                <a:lnTo>
                  <a:pt x="11769072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957866" y="7925691"/>
            <a:ext cx="14372268" cy="1934962"/>
          </a:xfrm>
          <a:custGeom>
            <a:avLst/>
            <a:gdLst/>
            <a:ahLst/>
            <a:cxnLst/>
            <a:rect r="r" b="b" t="t" l="l"/>
            <a:pathLst>
              <a:path h="1934962" w="14372268">
                <a:moveTo>
                  <a:pt x="0" y="0"/>
                </a:moveTo>
                <a:lnTo>
                  <a:pt x="14372268" y="0"/>
                </a:lnTo>
                <a:lnTo>
                  <a:pt x="14372268" y="1934961"/>
                </a:lnTo>
                <a:lnTo>
                  <a:pt x="0" y="193496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2779776" y="8413121"/>
            <a:ext cx="12728448" cy="404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68"/>
              </a:lnSpc>
            </a:pPr>
            <a:r>
              <a:rPr lang="en-US" sz="2723" b="true">
                <a:solidFill>
                  <a:srgbClr val="F4F4F4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Menos esfuerzo manual. Decisiones más rápidas. Mejores resultados.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389120" y="8999480"/>
            <a:ext cx="9491472" cy="404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68"/>
              </a:lnSpc>
            </a:pPr>
            <a:r>
              <a:rPr lang="en-US" sz="2723">
                <a:solidFill>
                  <a:srgbClr val="D2E037"/>
                </a:solidFill>
                <a:latin typeface="Inter"/>
                <a:ea typeface="Inter"/>
                <a:cs typeface="Inter"/>
                <a:sym typeface="Inter"/>
              </a:rPr>
              <a:t>Sigamos construyendo el futuro de la gestión financiera.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DAHVoKKsd5g</dc:identifier>
  <dcterms:modified xsi:type="dcterms:W3CDTF">2011-08-01T06:04:30Z</dcterms:modified>
  <cp:revision>1</cp:revision>
  <dc:title>Alberto AI</dc:title>
</cp:coreProperties>
</file>