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Inter Light" panose="020B0604020202020204" charset="0"/>
      <p:regular r:id="rId14"/>
    </p:embeddedFont>
    <p:embeddedFont>
      <p:font typeface="Inter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1368" autoAdjust="0"/>
  </p:normalViewPr>
  <p:slideViewPr>
    <p:cSldViewPr>
      <p:cViewPr varScale="1">
        <p:scale>
          <a:sx n="30" d="100"/>
          <a:sy n="30" d="100"/>
        </p:scale>
        <p:origin x="14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D39E9-FFB1-4245-A9D2-2875745D43D2}" type="datetimeFigureOut">
              <a:rPr lang="es-ES" smtClean="0"/>
              <a:t>19/09/2026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8C4C7-C02F-4277-8B4A-A692A45A05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201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Comenzamos explicando brevemente el problema que tiene Alberto. Que básicamente es que tiene que procesar y decidir si una factura se paga o no manualmente consultando datos de distintas fuentes y formatos.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8C4C7-C02F-4277-8B4A-A692A45A05E4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990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Nuestra solución. Un sistema que es capaz de centralizar la información que tenía la empresa, y es capaz de aprobar o denegar facturas con la información que tiene cruzando datos y verificando la integridad de las facturas. Además, es capaz de escalar y pedir intervención humana si encuentra inconsistencias o la cifra a pagar de la factura supera un cierto umbral.</a:t>
            </a:r>
          </a:p>
          <a:p>
            <a:endParaRPr lang="es-ES" dirty="0"/>
          </a:p>
          <a:p>
            <a:r>
              <a:rPr lang="es-ES" dirty="0"/>
              <a:t>Es un sistema autónomo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8C4C7-C02F-4277-8B4A-A692A45A05E4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8515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Nuestra arquitectura, como funciona el sistema E2E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8C4C7-C02F-4277-8B4A-A692A45A05E4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2708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Nuestras decisiones de ingeniería, hay que justificarlas el por qué usamos una y no otra.</a:t>
            </a:r>
          </a:p>
          <a:p>
            <a:endParaRPr lang="es-ES" dirty="0"/>
          </a:p>
          <a:p>
            <a:pPr marL="171450" indent="-171450">
              <a:buFontTx/>
              <a:buChar char="-"/>
            </a:pPr>
            <a:r>
              <a:rPr lang="es-ES" dirty="0"/>
              <a:t>Spark</a:t>
            </a:r>
          </a:p>
          <a:p>
            <a:pPr marL="171450" indent="-171450">
              <a:buFontTx/>
              <a:buChar char="-"/>
            </a:pPr>
            <a:r>
              <a:rPr lang="es-ES" dirty="0"/>
              <a:t>BBDD</a:t>
            </a:r>
          </a:p>
          <a:p>
            <a:pPr marL="171450" indent="-171450">
              <a:buFontTx/>
              <a:buChar char="-"/>
            </a:pPr>
            <a:r>
              <a:rPr lang="es-ES" dirty="0" err="1"/>
              <a:t>Etc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8C4C7-C02F-4277-8B4A-A692A45A05E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6069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movimiento de una factura dentro del sistema, de principio (se recibe y se carga en el sistema) hasta que es pagada, denegada o escalada para q sea revisada por un humano experto.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8C4C7-C02F-4277-8B4A-A692A45A05E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076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Cómo escalaríamos el sistema y cuanto costaría. Cómo funcionaría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8C4C7-C02F-4277-8B4A-A692A45A05E4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064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resiliencia del sistema ante errores, recuperaciones, hackeos…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8C4C7-C02F-4277-8B4A-A692A45A05E4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3578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Fin de presentación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8C4C7-C02F-4277-8B4A-A692A45A05E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8510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4580086" y="0"/>
            <a:ext cx="3707914" cy="10287000"/>
          </a:xfrm>
          <a:custGeom>
            <a:avLst/>
            <a:gdLst/>
            <a:ahLst/>
            <a:cxnLst/>
            <a:rect l="l" t="t" r="r" b="b"/>
            <a:pathLst>
              <a:path w="3707914" h="10287000">
                <a:moveTo>
                  <a:pt x="0" y="0"/>
                </a:moveTo>
                <a:lnTo>
                  <a:pt x="3707914" y="0"/>
                </a:lnTo>
                <a:lnTo>
                  <a:pt x="3707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10226842" y="1705390"/>
            <a:ext cx="8061158" cy="7947555"/>
          </a:xfrm>
          <a:custGeom>
            <a:avLst/>
            <a:gdLst/>
            <a:ahLst/>
            <a:cxnLst/>
            <a:rect l="l" t="t" r="r" b="b"/>
            <a:pathLst>
              <a:path w="8061158" h="7947555">
                <a:moveTo>
                  <a:pt x="0" y="0"/>
                </a:moveTo>
                <a:lnTo>
                  <a:pt x="8061158" y="0"/>
                </a:lnTo>
                <a:lnTo>
                  <a:pt x="8061158" y="7947555"/>
                </a:lnTo>
                <a:lnTo>
                  <a:pt x="0" y="7947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1188720" y="3400532"/>
            <a:ext cx="7388352" cy="171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94"/>
              </a:lnSpc>
            </a:pPr>
            <a:r>
              <a:rPr lang="en-US" sz="12894" b="1" spc="-644">
                <a:solidFill>
                  <a:srgbClr val="083B27"/>
                </a:solidFill>
                <a:latin typeface="Inter Bold"/>
                <a:ea typeface="Inter Bold"/>
                <a:cs typeface="Inter Bold"/>
                <a:sym typeface="Inter Bold"/>
              </a:rPr>
              <a:t>Alberto 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3584" y="5232997"/>
            <a:ext cx="5157216" cy="51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4"/>
              </a:lnSpc>
            </a:pPr>
            <a:r>
              <a:rPr lang="en-US" sz="3062" spc="-61">
                <a:solidFill>
                  <a:srgbClr val="083B27"/>
                </a:solidFill>
                <a:latin typeface="Inter"/>
                <a:ea typeface="Inter"/>
                <a:cs typeface="Inter"/>
                <a:sym typeface="Inter"/>
              </a:rPr>
              <a:t>Nada ocurre sin dejar rastro</a:t>
            </a:r>
          </a:p>
        </p:txBody>
      </p:sp>
      <p:sp>
        <p:nvSpPr>
          <p:cNvPr id="7" name="Freeform 7"/>
          <p:cNvSpPr/>
          <p:nvPr/>
        </p:nvSpPr>
        <p:spPr>
          <a:xfrm>
            <a:off x="1082842" y="6209369"/>
            <a:ext cx="7853340" cy="229572"/>
          </a:xfrm>
          <a:custGeom>
            <a:avLst/>
            <a:gdLst/>
            <a:ahLst/>
            <a:cxnLst/>
            <a:rect l="l" t="t" r="r" b="b"/>
            <a:pathLst>
              <a:path w="7853340" h="229572">
                <a:moveTo>
                  <a:pt x="0" y="0"/>
                </a:moveTo>
                <a:lnTo>
                  <a:pt x="7853340" y="0"/>
                </a:lnTo>
                <a:lnTo>
                  <a:pt x="785334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243584" y="6923153"/>
            <a:ext cx="1207008" cy="445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6"/>
              </a:lnSpc>
            </a:pPr>
            <a:r>
              <a:rPr lang="en-US" sz="2723" spc="-54">
                <a:solidFill>
                  <a:srgbClr val="083B27"/>
                </a:solidFill>
                <a:latin typeface="Inter"/>
                <a:ea typeface="Inter"/>
                <a:cs typeface="Inter"/>
                <a:sym typeface="Inter"/>
              </a:rPr>
              <a:t>Equipo:</a:t>
            </a:r>
          </a:p>
        </p:txBody>
      </p:sp>
      <p:sp>
        <p:nvSpPr>
          <p:cNvPr id="9" name="Freeform 9"/>
          <p:cNvSpPr/>
          <p:nvPr/>
        </p:nvSpPr>
        <p:spPr>
          <a:xfrm>
            <a:off x="2384440" y="7280704"/>
            <a:ext cx="6332986" cy="229572"/>
          </a:xfrm>
          <a:custGeom>
            <a:avLst/>
            <a:gdLst/>
            <a:ahLst/>
            <a:cxnLst/>
            <a:rect l="l" t="t" r="r" b="b"/>
            <a:pathLst>
              <a:path w="6332986" h="229572">
                <a:moveTo>
                  <a:pt x="0" y="0"/>
                </a:moveTo>
                <a:lnTo>
                  <a:pt x="6332986" y="0"/>
                </a:lnTo>
                <a:lnTo>
                  <a:pt x="633298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4580086" y="0"/>
            <a:ext cx="3707914" cy="10287000"/>
          </a:xfrm>
          <a:custGeom>
            <a:avLst/>
            <a:gdLst/>
            <a:ahLst/>
            <a:cxnLst/>
            <a:rect l="l" t="t" r="r" b="b"/>
            <a:pathLst>
              <a:path w="3707914" h="10287000">
                <a:moveTo>
                  <a:pt x="0" y="0"/>
                </a:moveTo>
                <a:lnTo>
                  <a:pt x="3707914" y="0"/>
                </a:lnTo>
                <a:lnTo>
                  <a:pt x="3707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10226842" y="1705390"/>
            <a:ext cx="8061158" cy="7947555"/>
          </a:xfrm>
          <a:custGeom>
            <a:avLst/>
            <a:gdLst/>
            <a:ahLst/>
            <a:cxnLst/>
            <a:rect l="l" t="t" r="r" b="b"/>
            <a:pathLst>
              <a:path w="8061158" h="7947555">
                <a:moveTo>
                  <a:pt x="0" y="0"/>
                </a:moveTo>
                <a:lnTo>
                  <a:pt x="8061158" y="0"/>
                </a:lnTo>
                <a:lnTo>
                  <a:pt x="8061158" y="7947555"/>
                </a:lnTo>
                <a:lnTo>
                  <a:pt x="0" y="7947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1280160" y="1480217"/>
            <a:ext cx="6693408" cy="2638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8"/>
              </a:lnSpc>
            </a:pPr>
            <a:r>
              <a:rPr lang="en-US" sz="9439" b="1" spc="-377">
                <a:solidFill>
                  <a:srgbClr val="08493B"/>
                </a:solidFill>
                <a:latin typeface="Inter Bold"/>
                <a:ea typeface="Inter Bold"/>
                <a:cs typeface="Inter Bold"/>
                <a:sym typeface="Inter Bold"/>
              </a:rPr>
              <a:t>El problema</a:t>
            </a:r>
          </a:p>
          <a:p>
            <a:pPr algn="l">
              <a:lnSpc>
                <a:spcPts val="10288"/>
              </a:lnSpc>
            </a:pPr>
            <a:r>
              <a:rPr lang="en-US" sz="9439" b="1" spc="-377">
                <a:solidFill>
                  <a:srgbClr val="08493B"/>
                </a:solidFill>
                <a:latin typeface="Inter Bold"/>
                <a:ea typeface="Inter Bold"/>
                <a:cs typeface="Inter Bold"/>
                <a:sym typeface="Inter Bold"/>
              </a:rPr>
              <a:t>de Alberto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0160" y="4404054"/>
            <a:ext cx="4334256" cy="1715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9"/>
              </a:lnSpc>
            </a:pPr>
            <a:r>
              <a:rPr lang="en-US" sz="2893">
                <a:solidFill>
                  <a:srgbClr val="08493B"/>
                </a:solidFill>
                <a:latin typeface="Inter"/>
                <a:ea typeface="Inter"/>
                <a:cs typeface="Inter"/>
                <a:sym typeface="Inter"/>
              </a:rPr>
              <a:t>500 facturas PDF diarias</a:t>
            </a:r>
          </a:p>
          <a:p>
            <a:pPr algn="l">
              <a:lnSpc>
                <a:spcPts val="4629"/>
              </a:lnSpc>
            </a:pPr>
            <a:r>
              <a:rPr lang="en-US" sz="2893">
                <a:solidFill>
                  <a:srgbClr val="08493B"/>
                </a:solidFill>
                <a:latin typeface="Inter"/>
                <a:ea typeface="Inter"/>
                <a:cs typeface="Inter"/>
                <a:sym typeface="Inter"/>
              </a:rPr>
              <a:t>1 Excel de proveedores</a:t>
            </a:r>
          </a:p>
          <a:p>
            <a:pPr algn="l">
              <a:lnSpc>
                <a:spcPts val="4629"/>
              </a:lnSpc>
            </a:pPr>
            <a:r>
              <a:rPr lang="en-US" sz="2893">
                <a:solidFill>
                  <a:srgbClr val="08493B"/>
                </a:solidFill>
                <a:latin typeface="Inter"/>
                <a:ea typeface="Inter"/>
                <a:cs typeface="Inter"/>
                <a:sym typeface="Inter"/>
              </a:rPr>
              <a:t>1 ERP de 2009</a:t>
            </a:r>
          </a:p>
        </p:txBody>
      </p:sp>
      <p:sp>
        <p:nvSpPr>
          <p:cNvPr id="7" name="Freeform 7"/>
          <p:cNvSpPr/>
          <p:nvPr/>
        </p:nvSpPr>
        <p:spPr>
          <a:xfrm>
            <a:off x="1082842" y="6428009"/>
            <a:ext cx="7634584" cy="218640"/>
          </a:xfrm>
          <a:custGeom>
            <a:avLst/>
            <a:gdLst/>
            <a:ahLst/>
            <a:cxnLst/>
            <a:rect l="l" t="t" r="r" b="b"/>
            <a:pathLst>
              <a:path w="7634584" h="218640">
                <a:moveTo>
                  <a:pt x="0" y="0"/>
                </a:moveTo>
                <a:lnTo>
                  <a:pt x="7634584" y="0"/>
                </a:lnTo>
                <a:lnTo>
                  <a:pt x="7634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280160" y="7036906"/>
            <a:ext cx="7223760" cy="1758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 spc="-86">
                <a:solidFill>
                  <a:srgbClr val="08493B"/>
                </a:solidFill>
                <a:latin typeface="Inter"/>
                <a:ea typeface="Inter"/>
                <a:cs typeface="Inter"/>
                <a:sym typeface="Inter"/>
              </a:rPr>
              <a:t>Usuarios: equipo financiero y contable</a:t>
            </a:r>
          </a:p>
          <a:p>
            <a:pPr algn="l">
              <a:lnSpc>
                <a:spcPts val="3471"/>
              </a:lnSpc>
            </a:pPr>
            <a:endParaRPr lang="en-US" sz="2893" spc="-86">
              <a:solidFill>
                <a:srgbClr val="08493B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71"/>
              </a:lnSpc>
            </a:pPr>
            <a:r>
              <a:rPr lang="en-US" sz="2893" spc="-86">
                <a:solidFill>
                  <a:srgbClr val="08493B"/>
                </a:solidFill>
                <a:latin typeface="Inter"/>
                <a:ea typeface="Inter"/>
                <a:cs typeface="Inter"/>
                <a:sym typeface="Inter"/>
              </a:rPr>
              <a:t>Se pierde tiempo en </a:t>
            </a:r>
            <a:r>
              <a:rPr lang="en-US" sz="2893" b="1" spc="-86">
                <a:solidFill>
                  <a:srgbClr val="169D79"/>
                </a:solidFill>
                <a:latin typeface="Inter Bold"/>
                <a:ea typeface="Inter Bold"/>
                <a:cs typeface="Inter Bold"/>
                <a:sym typeface="Inter Bold"/>
              </a:rPr>
              <a:t>revisión manual,</a:t>
            </a:r>
          </a:p>
          <a:p>
            <a:pPr algn="l">
              <a:lnSpc>
                <a:spcPts val="3471"/>
              </a:lnSpc>
            </a:pPr>
            <a:r>
              <a:rPr lang="en-US" sz="2893" b="1" spc="-86">
                <a:solidFill>
                  <a:srgbClr val="169D79"/>
                </a:solidFill>
                <a:latin typeface="Inter Bold"/>
                <a:ea typeface="Inter Bold"/>
                <a:cs typeface="Inter Bold"/>
                <a:sym typeface="Inter Bold"/>
              </a:rPr>
              <a:t>cruce de datos y decisiones sobre pagos.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426574" y="2776725"/>
            <a:ext cx="5457962" cy="5367606"/>
          </a:xfrm>
          <a:custGeom>
            <a:avLst/>
            <a:gdLst/>
            <a:ahLst/>
            <a:cxnLst/>
            <a:rect l="l" t="t" r="r" b="b"/>
            <a:pathLst>
              <a:path w="5457962" h="5367606">
                <a:moveTo>
                  <a:pt x="0" y="0"/>
                </a:moveTo>
                <a:lnTo>
                  <a:pt x="5457962" y="0"/>
                </a:lnTo>
                <a:lnTo>
                  <a:pt x="5457962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426574" y="2776725"/>
            <a:ext cx="1104718" cy="5367606"/>
          </a:xfrm>
          <a:custGeom>
            <a:avLst/>
            <a:gdLst/>
            <a:ahLst/>
            <a:cxnLst/>
            <a:rect l="l" t="t" r="r" b="b"/>
            <a:pathLst>
              <a:path w="1104718" h="5367606">
                <a:moveTo>
                  <a:pt x="0" y="0"/>
                </a:moveTo>
                <a:lnTo>
                  <a:pt x="1104718" y="0"/>
                </a:lnTo>
                <a:lnTo>
                  <a:pt x="1104718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426574" y="3640352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520354" y="3640352"/>
            <a:ext cx="1093780" cy="863627"/>
          </a:xfrm>
          <a:custGeom>
            <a:avLst/>
            <a:gdLst/>
            <a:ahLst/>
            <a:cxnLst/>
            <a:rect l="l" t="t" r="r" b="b"/>
            <a:pathLst>
              <a:path w="1093780" h="863627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2603196" y="3640352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3478220" y="3640352"/>
            <a:ext cx="1093780" cy="863627"/>
          </a:xfrm>
          <a:custGeom>
            <a:avLst/>
            <a:gdLst/>
            <a:ahLst/>
            <a:cxnLst/>
            <a:rect l="l" t="t" r="r" b="b"/>
            <a:pathLst>
              <a:path w="1093780" h="863627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4572000" y="3640352"/>
            <a:ext cx="1093780" cy="863627"/>
          </a:xfrm>
          <a:custGeom>
            <a:avLst/>
            <a:gdLst/>
            <a:ahLst/>
            <a:cxnLst/>
            <a:rect l="l" t="t" r="r" b="b"/>
            <a:pathLst>
              <a:path w="1093780" h="863627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4791456" y="3923875"/>
            <a:ext cx="219456" cy="261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1"/>
              </a:lnSpc>
            </a:pPr>
            <a:r>
              <a:rPr lang="en-US" sz="1536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12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20354" y="4493047"/>
            <a:ext cx="1968804" cy="2372241"/>
          </a:xfrm>
          <a:custGeom>
            <a:avLst/>
            <a:gdLst/>
            <a:ahLst/>
            <a:cxnLst/>
            <a:rect l="l" t="t" r="r" b="b"/>
            <a:pathLst>
              <a:path w="1968804" h="2372241">
                <a:moveTo>
                  <a:pt x="0" y="0"/>
                </a:moveTo>
                <a:lnTo>
                  <a:pt x="1968804" y="0"/>
                </a:lnTo>
                <a:lnTo>
                  <a:pt x="196880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Freeform 12"/>
          <p:cNvSpPr/>
          <p:nvPr/>
        </p:nvSpPr>
        <p:spPr>
          <a:xfrm>
            <a:off x="1739110" y="7280704"/>
            <a:ext cx="3489158" cy="655919"/>
          </a:xfrm>
          <a:custGeom>
            <a:avLst/>
            <a:gdLst/>
            <a:ahLst/>
            <a:cxnLst/>
            <a:rect l="l" t="t" r="r" b="b"/>
            <a:pathLst>
              <a:path w="3489158" h="655919">
                <a:moveTo>
                  <a:pt x="0" y="0"/>
                </a:moveTo>
                <a:lnTo>
                  <a:pt x="3489158" y="0"/>
                </a:lnTo>
                <a:lnTo>
                  <a:pt x="348915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Freeform 13"/>
          <p:cNvSpPr/>
          <p:nvPr/>
        </p:nvSpPr>
        <p:spPr>
          <a:xfrm>
            <a:off x="5217330" y="2995365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>
            <a:off x="6092354" y="2776725"/>
            <a:ext cx="5884536" cy="5367606"/>
          </a:xfrm>
          <a:custGeom>
            <a:avLst/>
            <a:gdLst/>
            <a:ahLst/>
            <a:cxnLst/>
            <a:rect l="l" t="t" r="r" b="b"/>
            <a:pathLst>
              <a:path w="5884536" h="5367606">
                <a:moveTo>
                  <a:pt x="0" y="0"/>
                </a:moveTo>
                <a:lnTo>
                  <a:pt x="5884536" y="0"/>
                </a:lnTo>
                <a:lnTo>
                  <a:pt x="5884536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15"/>
          <p:cNvSpPr/>
          <p:nvPr/>
        </p:nvSpPr>
        <p:spPr>
          <a:xfrm>
            <a:off x="6092354" y="2776725"/>
            <a:ext cx="1093780" cy="5367606"/>
          </a:xfrm>
          <a:custGeom>
            <a:avLst/>
            <a:gdLst/>
            <a:ahLst/>
            <a:cxnLst/>
            <a:rect l="l" t="t" r="r" b="b"/>
            <a:pathLst>
              <a:path w="1093780" h="5367606">
                <a:moveTo>
                  <a:pt x="0" y="0"/>
                </a:moveTo>
                <a:lnTo>
                  <a:pt x="1093780" y="0"/>
                </a:lnTo>
                <a:lnTo>
                  <a:pt x="1093780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6092354" y="3848060"/>
            <a:ext cx="1093780" cy="655919"/>
          </a:xfrm>
          <a:custGeom>
            <a:avLst/>
            <a:gdLst/>
            <a:ahLst/>
            <a:cxnLst/>
            <a:rect l="l" t="t" r="r" b="b"/>
            <a:pathLst>
              <a:path w="1093780" h="655919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7175196" y="3848060"/>
            <a:ext cx="4582938" cy="3224936"/>
          </a:xfrm>
          <a:custGeom>
            <a:avLst/>
            <a:gdLst/>
            <a:ahLst/>
            <a:cxnLst/>
            <a:rect l="l" t="t" r="r" b="b"/>
            <a:pathLst>
              <a:path w="4582938" h="3224936">
                <a:moveTo>
                  <a:pt x="0" y="0"/>
                </a:moveTo>
                <a:lnTo>
                  <a:pt x="4582938" y="0"/>
                </a:lnTo>
                <a:lnTo>
                  <a:pt x="458293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11101866" y="2995365"/>
            <a:ext cx="656268" cy="229572"/>
          </a:xfrm>
          <a:custGeom>
            <a:avLst/>
            <a:gdLst/>
            <a:ahLst/>
            <a:cxnLst/>
            <a:rect l="l" t="t" r="r" b="b"/>
            <a:pathLst>
              <a:path w="656268" h="229572">
                <a:moveTo>
                  <a:pt x="0" y="0"/>
                </a:moveTo>
                <a:lnTo>
                  <a:pt x="656268" y="0"/>
                </a:lnTo>
                <a:lnTo>
                  <a:pt x="65626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12184708" y="2776725"/>
            <a:ext cx="5895474" cy="5367606"/>
          </a:xfrm>
          <a:custGeom>
            <a:avLst/>
            <a:gdLst/>
            <a:ahLst/>
            <a:cxnLst/>
            <a:rect l="l" t="t" r="r" b="b"/>
            <a:pathLst>
              <a:path w="5895474" h="5367606">
                <a:moveTo>
                  <a:pt x="0" y="0"/>
                </a:moveTo>
                <a:lnTo>
                  <a:pt x="5895474" y="0"/>
                </a:lnTo>
                <a:lnTo>
                  <a:pt x="5895474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12184708" y="2776725"/>
            <a:ext cx="1104718" cy="5367606"/>
          </a:xfrm>
          <a:custGeom>
            <a:avLst/>
            <a:gdLst/>
            <a:ahLst/>
            <a:cxnLst/>
            <a:rect l="l" t="t" r="r" b="b"/>
            <a:pathLst>
              <a:path w="1104718" h="5367606">
                <a:moveTo>
                  <a:pt x="0" y="0"/>
                </a:moveTo>
                <a:lnTo>
                  <a:pt x="1104718" y="0"/>
                </a:lnTo>
                <a:lnTo>
                  <a:pt x="1104718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TextBox 21"/>
          <p:cNvSpPr txBox="1"/>
          <p:nvPr/>
        </p:nvSpPr>
        <p:spPr>
          <a:xfrm>
            <a:off x="694944" y="3186810"/>
            <a:ext cx="548640" cy="13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lang="en-US" sz="85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Alberto AI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9344" y="3337464"/>
            <a:ext cx="1133856" cy="167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1"/>
              </a:lnSpc>
            </a:pPr>
            <a:r>
              <a:rPr lang="en-US" sz="1044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Resumen general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4208" y="3909527"/>
            <a:ext cx="438912" cy="29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500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88336" y="3918921"/>
            <a:ext cx="438912" cy="271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98%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49040" y="3914611"/>
            <a:ext cx="292608" cy="28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779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32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4944" y="4128262"/>
            <a:ext cx="365760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Facturas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4944" y="4498594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Proveedores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4944" y="4879213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Configuración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09344" y="5156962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Aprobados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72384" y="5156962"/>
            <a:ext cx="219456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Aprobada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49040" y="5156962"/>
            <a:ext cx="219456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Aprobada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75504" y="5217634"/>
            <a:ext cx="475488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Aprobada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09344" y="5434711"/>
            <a:ext cx="694944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Requem revisión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72384" y="5495383"/>
            <a:ext cx="219456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76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749040" y="5434711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Requem revisión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75504" y="5434711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Requem revisión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09344" y="5712460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Rechazados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72384" y="5773132"/>
            <a:ext cx="219456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876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49040" y="5712460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Rechazados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75504" y="5712460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Rechazados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09344" y="5990209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Rechazados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072384" y="6050881"/>
            <a:ext cx="219456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76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749040" y="5990209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Rechazados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75504" y="5990209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Rechazados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09344" y="6370828"/>
            <a:ext cx="694944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Volumen por día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75504" y="6370828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Rechazados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749040" y="6370828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Volumen por día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75504" y="6370828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Rechazados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4208" y="4879213"/>
            <a:ext cx="987552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Estado de procesamiento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072384" y="4939885"/>
            <a:ext cx="475488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Factura n°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749040" y="4939885"/>
            <a:ext cx="694944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Factura n°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5504" y="4939885"/>
            <a:ext cx="475488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Factura n°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609344" y="6370828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Volumen por día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749040" y="6370828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Volumen por día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175504" y="6370828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Volumen por día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749040" y="6370828"/>
            <a:ext cx="475488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Volumen por día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437376" y="3186810"/>
            <a:ext cx="548640" cy="13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lang="en-US" sz="85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Alberto AI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388352" y="3337464"/>
            <a:ext cx="1389888" cy="167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1"/>
              </a:lnSpc>
            </a:pPr>
            <a:r>
              <a:rPr lang="en-US" sz="1044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Facturas procesadas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437376" y="3747643"/>
            <a:ext cx="365760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Resumen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88352" y="3807769"/>
            <a:ext cx="987552" cy="12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01. Dónde se procedirá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247888" y="3808315"/>
            <a:ext cx="1133856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02. Por qué se procedirá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936224" y="3747643"/>
            <a:ext cx="731520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03. Por qué se procedirá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437376" y="4138549"/>
            <a:ext cx="365760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Facturas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388352" y="4138549"/>
            <a:ext cx="365760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Factura n°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247888" y="4138549"/>
            <a:ext cx="219456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Fecha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290304" y="4138549"/>
            <a:ext cx="219456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Fecha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332720" y="4138549"/>
            <a:ext cx="219456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Fecha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192256" y="4138549"/>
            <a:ext cx="219456" cy="24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"/>
              </a:lnSpc>
            </a:pPr>
            <a:r>
              <a:rPr lang="en-US" sz="688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Fecha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437376" y="4579840"/>
            <a:ext cx="365760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03. 04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388352" y="4579840"/>
            <a:ext cx="694944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04. 05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247888" y="4579840"/>
            <a:ext cx="475488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06. 07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290304" y="4579840"/>
            <a:ext cx="475488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08. 09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332720" y="4579840"/>
            <a:ext cx="475488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10. 11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192256" y="4579840"/>
            <a:ext cx="475488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00492C"/>
                </a:solidFill>
                <a:latin typeface="Inter Bold"/>
                <a:ea typeface="Inter Bold"/>
                <a:cs typeface="Inter Bold"/>
                <a:sym typeface="Inter Bold"/>
              </a:rPr>
              <a:t>12. 13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437376" y="4960459"/>
            <a:ext cx="365760" cy="12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lang="en-US" sz="73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04. 05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768096" y="796750"/>
            <a:ext cx="5815584" cy="97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4"/>
              </a:lnSpc>
            </a:pPr>
            <a:r>
              <a:rPr lang="en-US" sz="7254" b="1">
                <a:solidFill>
                  <a:srgbClr val="215A4E"/>
                </a:solidFill>
                <a:latin typeface="Inter Bold"/>
                <a:ea typeface="Inter Bold"/>
                <a:cs typeface="Inter Bold"/>
                <a:sym typeface="Inter Bold"/>
              </a:rPr>
              <a:t>Arquitectura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8096" y="2038297"/>
            <a:ext cx="5193792" cy="34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4"/>
              </a:lnSpc>
            </a:pPr>
            <a:r>
              <a:rPr lang="en-US" sz="2554">
                <a:solidFill>
                  <a:srgbClr val="215A4E"/>
                </a:solidFill>
                <a:latin typeface="Inter"/>
                <a:ea typeface="Inter"/>
                <a:cs typeface="Inter"/>
                <a:sym typeface="Inter"/>
              </a:rPr>
              <a:t>Flujo principal y puntos de control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995365"/>
            <a:ext cx="2625072" cy="1508614"/>
          </a:xfrm>
          <a:custGeom>
            <a:avLst/>
            <a:gdLst/>
            <a:ahLst/>
            <a:cxnLst/>
            <a:rect l="l" t="t" r="r" b="b"/>
            <a:pathLst>
              <a:path w="2625072" h="1508614">
                <a:moveTo>
                  <a:pt x="0" y="0"/>
                </a:moveTo>
                <a:lnTo>
                  <a:pt x="2625072" y="0"/>
                </a:lnTo>
                <a:lnTo>
                  <a:pt x="262507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786384" y="3378130"/>
            <a:ext cx="2286000" cy="79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Entrada</a:t>
            </a:r>
          </a:p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 documentos</a:t>
            </a:r>
          </a:p>
        </p:txBody>
      </p:sp>
      <p:sp>
        <p:nvSpPr>
          <p:cNvPr id="7" name="Freeform 7"/>
          <p:cNvSpPr/>
          <p:nvPr/>
        </p:nvSpPr>
        <p:spPr>
          <a:xfrm>
            <a:off x="3040708" y="3640352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3915732" y="2995365"/>
            <a:ext cx="3270402" cy="1727254"/>
          </a:xfrm>
          <a:custGeom>
            <a:avLst/>
            <a:gdLst/>
            <a:ahLst/>
            <a:cxnLst/>
            <a:rect l="l" t="t" r="r" b="b"/>
            <a:pathLst>
              <a:path w="3270402" h="1727254">
                <a:moveTo>
                  <a:pt x="0" y="0"/>
                </a:moveTo>
                <a:lnTo>
                  <a:pt x="3270402" y="0"/>
                </a:lnTo>
                <a:lnTo>
                  <a:pt x="327040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4041648" y="3289039"/>
            <a:ext cx="2816352" cy="117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223" b="1">
                <a:solidFill>
                  <a:srgbClr val="215A4E"/>
                </a:solidFill>
                <a:latin typeface="Inter Bold"/>
                <a:ea typeface="Inter Bold"/>
                <a:cs typeface="Inter Bold"/>
                <a:sym typeface="Inter Bold"/>
              </a:rPr>
              <a:t>OCR Worker</a:t>
            </a:r>
          </a:p>
          <a:p>
            <a:pPr algn="ctr">
              <a:lnSpc>
                <a:spcPts val="3112"/>
              </a:lnSpc>
            </a:pPr>
            <a:r>
              <a:rPr lang="en-US" sz="2223">
                <a:solidFill>
                  <a:srgbClr val="215A4E"/>
                </a:solidFill>
                <a:latin typeface="Inter"/>
                <a:ea typeface="Inter"/>
                <a:cs typeface="Inter"/>
                <a:sym typeface="Inter"/>
              </a:rPr>
              <a:t>Extrae la información del documento</a:t>
            </a:r>
          </a:p>
        </p:txBody>
      </p:sp>
      <p:sp>
        <p:nvSpPr>
          <p:cNvPr id="10" name="Freeform 10"/>
          <p:cNvSpPr/>
          <p:nvPr/>
        </p:nvSpPr>
        <p:spPr>
          <a:xfrm>
            <a:off x="6956440" y="3640352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>
            <a:off x="7393952" y="2995365"/>
            <a:ext cx="3281340" cy="1727254"/>
          </a:xfrm>
          <a:custGeom>
            <a:avLst/>
            <a:gdLst/>
            <a:ahLst/>
            <a:cxnLst/>
            <a:rect l="l" t="t" r="r" b="b"/>
            <a:pathLst>
              <a:path w="3281340" h="1727254">
                <a:moveTo>
                  <a:pt x="0" y="0"/>
                </a:moveTo>
                <a:lnTo>
                  <a:pt x="3281340" y="0"/>
                </a:lnTo>
                <a:lnTo>
                  <a:pt x="328134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TextBox 12"/>
          <p:cNvSpPr txBox="1"/>
          <p:nvPr/>
        </p:nvSpPr>
        <p:spPr>
          <a:xfrm>
            <a:off x="7662672" y="3273615"/>
            <a:ext cx="2816352" cy="1202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215A4E"/>
                </a:solidFill>
                <a:latin typeface="Inter Bold"/>
                <a:ea typeface="Inter Bold"/>
                <a:cs typeface="Inter Bold"/>
                <a:sym typeface="Inter Bold"/>
              </a:rPr>
              <a:t>Validation Worker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215A4E"/>
                </a:solidFill>
                <a:latin typeface="Inter"/>
                <a:ea typeface="Inter"/>
                <a:cs typeface="Inter"/>
                <a:sym typeface="Inter"/>
              </a:rPr>
              <a:t>Valida y normaliza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215A4E"/>
                </a:solidFill>
                <a:latin typeface="Inter"/>
                <a:ea typeface="Inter"/>
                <a:cs typeface="Inter"/>
                <a:sym typeface="Inter"/>
              </a:rPr>
              <a:t>los datos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445598" y="3640352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>
            <a:off x="11101866" y="2995365"/>
            <a:ext cx="3270402" cy="1727254"/>
          </a:xfrm>
          <a:custGeom>
            <a:avLst/>
            <a:gdLst/>
            <a:ahLst/>
            <a:cxnLst/>
            <a:rect l="l" t="t" r="r" b="b"/>
            <a:pathLst>
              <a:path w="3270402" h="1727254">
                <a:moveTo>
                  <a:pt x="0" y="0"/>
                </a:moveTo>
                <a:lnTo>
                  <a:pt x="3270402" y="0"/>
                </a:lnTo>
                <a:lnTo>
                  <a:pt x="327040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TextBox 15"/>
          <p:cNvSpPr txBox="1"/>
          <p:nvPr/>
        </p:nvSpPr>
        <p:spPr>
          <a:xfrm>
            <a:off x="11283696" y="3273615"/>
            <a:ext cx="2816352" cy="1202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215A4E"/>
                </a:solidFill>
                <a:latin typeface="Inter Bold"/>
                <a:ea typeface="Inter Bold"/>
                <a:cs typeface="Inter Bold"/>
                <a:sym typeface="Inter Bold"/>
              </a:rPr>
              <a:t>Decision Worker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215A4E"/>
                </a:solidFill>
                <a:latin typeface="Inter"/>
                <a:ea typeface="Inter"/>
                <a:cs typeface="Inter"/>
                <a:sym typeface="Inter"/>
              </a:rPr>
              <a:t>Aplica reglas y toma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215A4E"/>
                </a:solidFill>
                <a:latin typeface="Inter"/>
                <a:ea typeface="Inter"/>
                <a:cs typeface="Inter"/>
                <a:sym typeface="Inter"/>
              </a:rPr>
              <a:t>la decisión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142574" y="3640352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15017598" y="3214004"/>
            <a:ext cx="2625072" cy="1508614"/>
          </a:xfrm>
          <a:custGeom>
            <a:avLst/>
            <a:gdLst/>
            <a:ahLst/>
            <a:cxnLst/>
            <a:rect l="l" t="t" r="r" b="b"/>
            <a:pathLst>
              <a:path w="2625072" h="1508614">
                <a:moveTo>
                  <a:pt x="0" y="0"/>
                </a:moveTo>
                <a:lnTo>
                  <a:pt x="2625072" y="0"/>
                </a:lnTo>
                <a:lnTo>
                  <a:pt x="262507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5217330" y="4493047"/>
            <a:ext cx="448450" cy="1300906"/>
          </a:xfrm>
          <a:custGeom>
            <a:avLst/>
            <a:gdLst/>
            <a:ahLst/>
            <a:cxnLst/>
            <a:rect l="l" t="t" r="r" b="b"/>
            <a:pathLst>
              <a:path w="448450" h="1300906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3915732" y="5564382"/>
            <a:ext cx="6759560" cy="1945894"/>
          </a:xfrm>
          <a:custGeom>
            <a:avLst/>
            <a:gdLst/>
            <a:ahLst/>
            <a:cxnLst/>
            <a:rect l="l" t="t" r="r" b="b"/>
            <a:pathLst>
              <a:path w="6759560" h="1945894">
                <a:moveTo>
                  <a:pt x="0" y="0"/>
                </a:moveTo>
                <a:lnTo>
                  <a:pt x="6759560" y="0"/>
                </a:lnTo>
                <a:lnTo>
                  <a:pt x="6759560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8925244" y="4493047"/>
            <a:ext cx="437512" cy="1300906"/>
          </a:xfrm>
          <a:custGeom>
            <a:avLst/>
            <a:gdLst/>
            <a:ahLst/>
            <a:cxnLst/>
            <a:rect l="l" t="t" r="r" b="b"/>
            <a:pathLst>
              <a:path w="437512" h="1300906">
                <a:moveTo>
                  <a:pt x="0" y="0"/>
                </a:moveTo>
                <a:lnTo>
                  <a:pt x="437512" y="0"/>
                </a:lnTo>
                <a:lnTo>
                  <a:pt x="43751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>
            <a:off x="12622220" y="4493047"/>
            <a:ext cx="885962" cy="1508614"/>
          </a:xfrm>
          <a:custGeom>
            <a:avLst/>
            <a:gdLst/>
            <a:ahLst/>
            <a:cxnLst/>
            <a:rect l="l" t="t" r="r" b="b"/>
            <a:pathLst>
              <a:path w="885962" h="1508614">
                <a:moveTo>
                  <a:pt x="0" y="0"/>
                </a:moveTo>
                <a:lnTo>
                  <a:pt x="885962" y="0"/>
                </a:lnTo>
                <a:lnTo>
                  <a:pt x="88596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Freeform 22"/>
          <p:cNvSpPr/>
          <p:nvPr/>
        </p:nvSpPr>
        <p:spPr>
          <a:xfrm>
            <a:off x="11320622" y="5990729"/>
            <a:ext cx="3489158" cy="1727254"/>
          </a:xfrm>
          <a:custGeom>
            <a:avLst/>
            <a:gdLst/>
            <a:ahLst/>
            <a:cxnLst/>
            <a:rect l="l" t="t" r="r" b="b"/>
            <a:pathLst>
              <a:path w="3489158" h="1727254">
                <a:moveTo>
                  <a:pt x="0" y="0"/>
                </a:moveTo>
                <a:lnTo>
                  <a:pt x="3489158" y="0"/>
                </a:lnTo>
                <a:lnTo>
                  <a:pt x="348915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TextBox 23"/>
          <p:cNvSpPr txBox="1"/>
          <p:nvPr/>
        </p:nvSpPr>
        <p:spPr>
          <a:xfrm>
            <a:off x="11594592" y="6220840"/>
            <a:ext cx="3474720" cy="1202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Intervención humana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Validación manual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escalamiento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580086" y="4493047"/>
            <a:ext cx="1968804" cy="2579949"/>
          </a:xfrm>
          <a:custGeom>
            <a:avLst/>
            <a:gdLst/>
            <a:ahLst/>
            <a:cxnLst/>
            <a:rect l="l" t="t" r="r" b="b"/>
            <a:pathLst>
              <a:path w="1968804" h="2579949">
                <a:moveTo>
                  <a:pt x="0" y="0"/>
                </a:moveTo>
                <a:lnTo>
                  <a:pt x="1968804" y="0"/>
                </a:lnTo>
                <a:lnTo>
                  <a:pt x="196880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Freeform 25"/>
          <p:cNvSpPr/>
          <p:nvPr/>
        </p:nvSpPr>
        <p:spPr>
          <a:xfrm>
            <a:off x="645330" y="7925691"/>
            <a:ext cx="16997340" cy="1727254"/>
          </a:xfrm>
          <a:custGeom>
            <a:avLst/>
            <a:gdLst/>
            <a:ahLst/>
            <a:cxnLst/>
            <a:rect l="l" t="t" r="r" b="b"/>
            <a:pathLst>
              <a:path w="16997340" h="1727254">
                <a:moveTo>
                  <a:pt x="0" y="0"/>
                </a:moveTo>
                <a:lnTo>
                  <a:pt x="16997340" y="0"/>
                </a:lnTo>
                <a:lnTo>
                  <a:pt x="1699734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TextBox 26"/>
          <p:cNvSpPr txBox="1"/>
          <p:nvPr/>
        </p:nvSpPr>
        <p:spPr>
          <a:xfrm>
            <a:off x="1225296" y="8379372"/>
            <a:ext cx="2322576" cy="27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2023" b="1">
                <a:solidFill>
                  <a:srgbClr val="215A4E"/>
                </a:solidFill>
                <a:latin typeface="Inter Bold"/>
                <a:ea typeface="Inter Bold"/>
                <a:cs typeface="Inter Bold"/>
                <a:sym typeface="Inter Bold"/>
              </a:rPr>
              <a:t>Stack tecnológico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5296" y="8873148"/>
            <a:ext cx="9564624" cy="27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2023">
                <a:solidFill>
                  <a:srgbClr val="215A4E"/>
                </a:solidFill>
                <a:latin typeface="Inter"/>
                <a:ea typeface="Inter"/>
                <a:cs typeface="Inter"/>
                <a:sym typeface="Inter"/>
              </a:rPr>
              <a:t>OCR • Validación • Reglas de negocio • Base de datos • Logs • Orquestación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087600" y="3475856"/>
            <a:ext cx="2450592" cy="79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Decisión automatizada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041648" y="6150476"/>
            <a:ext cx="6473952" cy="79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C6D43F"/>
                </a:solidFill>
                <a:latin typeface="Inter Bold"/>
                <a:ea typeface="Inter Bold"/>
                <a:cs typeface="Inter Bold"/>
                <a:sym typeface="Inter Bold"/>
              </a:rPr>
              <a:t>Almacenamiento de estado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215A4E"/>
                </a:solidFill>
                <a:latin typeface="Inter"/>
                <a:ea typeface="Inter"/>
                <a:cs typeface="Inter"/>
                <a:sym typeface="Inter"/>
              </a:rPr>
              <a:t>Base de datos y sistema de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841248" y="1185807"/>
            <a:ext cx="11100816" cy="96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7280" b="1">
                <a:solidFill>
                  <a:srgbClr val="0D3730"/>
                </a:solidFill>
                <a:latin typeface="Inter Bold"/>
                <a:ea typeface="Inter Bold"/>
                <a:cs typeface="Inter Bold"/>
                <a:sym typeface="Inter Bold"/>
              </a:rPr>
              <a:t>Decisiones de ingeniería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569017"/>
            <a:ext cx="4145426" cy="1082267"/>
          </a:xfrm>
          <a:custGeom>
            <a:avLst/>
            <a:gdLst/>
            <a:ahLst/>
            <a:cxnLst/>
            <a:rect l="l" t="t" r="r" b="b"/>
            <a:pathLst>
              <a:path w="4145426" h="1082267">
                <a:moveTo>
                  <a:pt x="0" y="0"/>
                </a:moveTo>
                <a:lnTo>
                  <a:pt x="4145426" y="0"/>
                </a:lnTo>
                <a:lnTo>
                  <a:pt x="414542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4572000" y="2569017"/>
            <a:ext cx="4572000" cy="1082267"/>
          </a:xfrm>
          <a:custGeom>
            <a:avLst/>
            <a:gdLst/>
            <a:ahLst/>
            <a:cxnLst/>
            <a:rect l="l" t="t" r="r" b="b"/>
            <a:pathLst>
              <a:path w="4572000" h="1082267">
                <a:moveTo>
                  <a:pt x="0" y="0"/>
                </a:moveTo>
                <a:lnTo>
                  <a:pt x="4572000" y="0"/>
                </a:lnTo>
                <a:lnTo>
                  <a:pt x="457200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8925244" y="2569017"/>
            <a:ext cx="4145426" cy="1082267"/>
          </a:xfrm>
          <a:custGeom>
            <a:avLst/>
            <a:gdLst/>
            <a:ahLst/>
            <a:cxnLst/>
            <a:rect l="l" t="t" r="r" b="b"/>
            <a:pathLst>
              <a:path w="4145426" h="1082267">
                <a:moveTo>
                  <a:pt x="0" y="0"/>
                </a:moveTo>
                <a:lnTo>
                  <a:pt x="4145426" y="0"/>
                </a:lnTo>
                <a:lnTo>
                  <a:pt x="414542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2840976" y="2569017"/>
            <a:ext cx="4801694" cy="1082267"/>
          </a:xfrm>
          <a:custGeom>
            <a:avLst/>
            <a:gdLst/>
            <a:ahLst/>
            <a:cxnLst/>
            <a:rect l="l" t="t" r="r" b="b"/>
            <a:pathLst>
              <a:path w="4801694" h="1082267">
                <a:moveTo>
                  <a:pt x="0" y="0"/>
                </a:moveTo>
                <a:lnTo>
                  <a:pt x="4801694" y="0"/>
                </a:lnTo>
                <a:lnTo>
                  <a:pt x="4801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645330" y="3421712"/>
            <a:ext cx="8498670" cy="5159898"/>
          </a:xfrm>
          <a:custGeom>
            <a:avLst/>
            <a:gdLst/>
            <a:ahLst/>
            <a:cxnLst/>
            <a:rect l="l" t="t" r="r" b="b"/>
            <a:pathLst>
              <a:path w="8498670" h="5159898">
                <a:moveTo>
                  <a:pt x="0" y="0"/>
                </a:moveTo>
                <a:lnTo>
                  <a:pt x="8498670" y="0"/>
                </a:lnTo>
                <a:lnTo>
                  <a:pt x="8498670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645330" y="8997026"/>
            <a:ext cx="16997340" cy="218640"/>
          </a:xfrm>
          <a:custGeom>
            <a:avLst/>
            <a:gdLst/>
            <a:ahLst/>
            <a:cxnLst/>
            <a:rect l="l" t="t" r="r" b="b"/>
            <a:pathLst>
              <a:path w="16997340" h="218640">
                <a:moveTo>
                  <a:pt x="0" y="0"/>
                </a:moveTo>
                <a:lnTo>
                  <a:pt x="16997340" y="0"/>
                </a:lnTo>
                <a:lnTo>
                  <a:pt x="1699734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914400" y="1247421"/>
            <a:ext cx="6565392" cy="116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62"/>
              </a:lnSpc>
            </a:pPr>
            <a:r>
              <a:rPr lang="en-US" sz="8762" b="1" spc="-175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Trazabilidad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9264" y="2505803"/>
            <a:ext cx="6035040" cy="49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229">
                <a:solidFill>
                  <a:srgbClr val="003922"/>
                </a:solidFill>
                <a:latin typeface="Inter"/>
                <a:ea typeface="Inter"/>
                <a:cs typeface="Inter"/>
                <a:sym typeface="Inter"/>
              </a:rPr>
              <a:t>Línea de tiempo de una factura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84832" y="3946100"/>
            <a:ext cx="512064" cy="52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2"/>
              </a:lnSpc>
            </a:pPr>
            <a:r>
              <a:rPr lang="en-US" sz="3401" b="1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6" name="Freeform 6"/>
          <p:cNvSpPr/>
          <p:nvPr/>
        </p:nvSpPr>
        <p:spPr>
          <a:xfrm>
            <a:off x="1520354" y="4711687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3259464" y="5356674"/>
            <a:ext cx="1531292" cy="437279"/>
          </a:xfrm>
          <a:custGeom>
            <a:avLst/>
            <a:gdLst/>
            <a:ahLst/>
            <a:cxnLst/>
            <a:rect l="l" t="t" r="r" b="b"/>
            <a:pathLst>
              <a:path w="1531292" h="437279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2011680" y="6608192"/>
            <a:ext cx="694944" cy="424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5"/>
              </a:lnSpc>
            </a:pPr>
            <a:r>
              <a:rPr lang="en-US" sz="2788" b="1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PDF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09344" y="7799565"/>
            <a:ext cx="1499616" cy="31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069">
                <a:solidFill>
                  <a:srgbClr val="003922"/>
                </a:solidFill>
                <a:latin typeface="Inter"/>
                <a:ea typeface="Inter"/>
                <a:cs typeface="Inter"/>
                <a:sym typeface="Inter"/>
              </a:rPr>
              <a:t>0 reintentos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79818" y="4711687"/>
            <a:ext cx="1760986" cy="1727254"/>
          </a:xfrm>
          <a:custGeom>
            <a:avLst/>
            <a:gdLst/>
            <a:ahLst/>
            <a:cxnLst/>
            <a:rect l="l" t="t" r="r" b="b"/>
            <a:pathLst>
              <a:path w="1760986" h="1727254">
                <a:moveTo>
                  <a:pt x="0" y="0"/>
                </a:moveTo>
                <a:lnTo>
                  <a:pt x="1760986" y="0"/>
                </a:lnTo>
                <a:lnTo>
                  <a:pt x="176098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>
            <a:off x="6529866" y="5356674"/>
            <a:ext cx="1531292" cy="437279"/>
          </a:xfrm>
          <a:custGeom>
            <a:avLst/>
            <a:gdLst/>
            <a:ahLst/>
            <a:cxnLst/>
            <a:rect l="l" t="t" r="r" b="b"/>
            <a:pathLst>
              <a:path w="1531292" h="437279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TextBox 12"/>
          <p:cNvSpPr txBox="1"/>
          <p:nvPr/>
        </p:nvSpPr>
        <p:spPr>
          <a:xfrm>
            <a:off x="5340096" y="6612251"/>
            <a:ext cx="786384" cy="426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2823" b="1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OCR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65776" y="7799565"/>
            <a:ext cx="1316736" cy="31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069">
                <a:solidFill>
                  <a:srgbClr val="003922"/>
                </a:solidFill>
                <a:latin typeface="Inter"/>
                <a:ea typeface="Inter"/>
                <a:cs typeface="Inter"/>
                <a:sym typeface="Inter"/>
              </a:rPr>
              <a:t>1 reintento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78240" y="3978896"/>
            <a:ext cx="512064" cy="45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</a:pPr>
            <a:r>
              <a:rPr lang="en-US" sz="2971" b="1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15" name="Freeform 15"/>
          <p:cNvSpPr/>
          <p:nvPr/>
        </p:nvSpPr>
        <p:spPr>
          <a:xfrm>
            <a:off x="8268976" y="4711687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8487732" y="5138034"/>
            <a:ext cx="1093780" cy="863627"/>
          </a:xfrm>
          <a:custGeom>
            <a:avLst/>
            <a:gdLst/>
            <a:ahLst/>
            <a:cxnLst/>
            <a:rect l="l" t="t" r="r" b="b"/>
            <a:pathLst>
              <a:path w="1093780" h="863627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TextBox 17"/>
          <p:cNvSpPr txBox="1"/>
          <p:nvPr/>
        </p:nvSpPr>
        <p:spPr>
          <a:xfrm>
            <a:off x="8284464" y="6624590"/>
            <a:ext cx="1682496" cy="39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543" b="1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Validación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39328" y="7799565"/>
            <a:ext cx="1499616" cy="31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069">
                <a:solidFill>
                  <a:srgbClr val="003922"/>
                </a:solidFill>
                <a:latin typeface="Inter"/>
                <a:ea typeface="Inter"/>
                <a:cs typeface="Inter"/>
                <a:sym typeface="Inter"/>
              </a:rPr>
              <a:t>0 reintentos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528440" y="4711687"/>
            <a:ext cx="1760986" cy="1727254"/>
          </a:xfrm>
          <a:custGeom>
            <a:avLst/>
            <a:gdLst/>
            <a:ahLst/>
            <a:cxnLst/>
            <a:rect l="l" t="t" r="r" b="b"/>
            <a:pathLst>
              <a:path w="1760986" h="1727254">
                <a:moveTo>
                  <a:pt x="0" y="0"/>
                </a:moveTo>
                <a:lnTo>
                  <a:pt x="1760986" y="0"/>
                </a:lnTo>
                <a:lnTo>
                  <a:pt x="176098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11965952" y="5138034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TextBox 21"/>
          <p:cNvSpPr txBox="1"/>
          <p:nvPr/>
        </p:nvSpPr>
        <p:spPr>
          <a:xfrm>
            <a:off x="11192256" y="6628649"/>
            <a:ext cx="2487168" cy="39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</a:pPr>
            <a:r>
              <a:rPr lang="en-US" sz="2613" b="1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Regla o modelo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15216" y="7199900"/>
            <a:ext cx="786384" cy="38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578" b="1">
                <a:solidFill>
                  <a:srgbClr val="D8D800"/>
                </a:solidFill>
                <a:latin typeface="Inter Bold"/>
                <a:ea typeface="Inter Bold"/>
                <a:cs typeface="Inter Bold"/>
                <a:sym typeface="Inter Bold"/>
              </a:rPr>
              <a:t>3.5 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86032" y="7799565"/>
            <a:ext cx="1499616" cy="31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069">
                <a:solidFill>
                  <a:srgbClr val="003922"/>
                </a:solidFill>
                <a:latin typeface="Inter"/>
                <a:ea typeface="Inter"/>
                <a:cs typeface="Inter"/>
                <a:sym typeface="Inter"/>
              </a:rPr>
              <a:t>2 reintentos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489936" y="3973430"/>
            <a:ext cx="512064" cy="468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7"/>
              </a:lnSpc>
            </a:pPr>
            <a:r>
              <a:rPr lang="en-US" sz="3014" b="1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798842" y="4711687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Freeform 26"/>
          <p:cNvSpPr/>
          <p:nvPr/>
        </p:nvSpPr>
        <p:spPr>
          <a:xfrm>
            <a:off x="15236354" y="5138034"/>
            <a:ext cx="1093780" cy="863627"/>
          </a:xfrm>
          <a:custGeom>
            <a:avLst/>
            <a:gdLst/>
            <a:ahLst/>
            <a:cxnLst/>
            <a:rect l="l" t="t" r="r" b="b"/>
            <a:pathLst>
              <a:path w="1093780" h="863627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7" name="TextBox 27"/>
          <p:cNvSpPr txBox="1"/>
          <p:nvPr/>
        </p:nvSpPr>
        <p:spPr>
          <a:xfrm>
            <a:off x="14703552" y="6624590"/>
            <a:ext cx="2157984" cy="39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543" b="1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Decisión final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014448" y="7799565"/>
            <a:ext cx="1499616" cy="31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069">
                <a:solidFill>
                  <a:srgbClr val="003922"/>
                </a:solidFill>
                <a:latin typeface="Inter"/>
                <a:ea typeface="Inter"/>
                <a:cs typeface="Inter"/>
                <a:sym typeface="Inter"/>
              </a:rPr>
              <a:t>0 reintentos</a:t>
            </a:r>
          </a:p>
        </p:txBody>
      </p:sp>
      <p:sp>
        <p:nvSpPr>
          <p:cNvPr id="29" name="Freeform 29"/>
          <p:cNvSpPr/>
          <p:nvPr/>
        </p:nvSpPr>
        <p:spPr>
          <a:xfrm>
            <a:off x="864086" y="8997026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0" name="TextBox 30"/>
          <p:cNvSpPr txBox="1"/>
          <p:nvPr/>
        </p:nvSpPr>
        <p:spPr>
          <a:xfrm>
            <a:off x="1444752" y="9073746"/>
            <a:ext cx="658368" cy="32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97">
                <a:solidFill>
                  <a:srgbClr val="003922"/>
                </a:solidFill>
                <a:latin typeface="Inter"/>
                <a:ea typeface="Inter"/>
                <a:cs typeface="Inter"/>
                <a:sym typeface="Inter"/>
              </a:rPr>
              <a:t>Éxito</a:t>
            </a:r>
          </a:p>
        </p:txBody>
      </p:sp>
      <p:sp>
        <p:nvSpPr>
          <p:cNvPr id="31" name="Freeform 31"/>
          <p:cNvSpPr/>
          <p:nvPr/>
        </p:nvSpPr>
        <p:spPr>
          <a:xfrm>
            <a:off x="2603196" y="8997026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2" name="TextBox 32"/>
          <p:cNvSpPr txBox="1"/>
          <p:nvPr/>
        </p:nvSpPr>
        <p:spPr>
          <a:xfrm>
            <a:off x="3236976" y="9069687"/>
            <a:ext cx="1133856" cy="32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120">
                <a:solidFill>
                  <a:srgbClr val="003922"/>
                </a:solidFill>
                <a:latin typeface="Inter"/>
                <a:ea typeface="Inter"/>
                <a:cs typeface="Inter"/>
                <a:sym typeface="Inter"/>
              </a:rPr>
              <a:t>Atención</a:t>
            </a:r>
          </a:p>
        </p:txBody>
      </p:sp>
      <p:sp>
        <p:nvSpPr>
          <p:cNvPr id="33" name="Freeform 33"/>
          <p:cNvSpPr/>
          <p:nvPr/>
        </p:nvSpPr>
        <p:spPr>
          <a:xfrm>
            <a:off x="4998574" y="8997026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4" name="TextBox 34"/>
          <p:cNvSpPr txBox="1"/>
          <p:nvPr/>
        </p:nvSpPr>
        <p:spPr>
          <a:xfrm>
            <a:off x="5522976" y="9062814"/>
            <a:ext cx="694944" cy="34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03922"/>
                </a:solidFill>
                <a:latin typeface="Inter"/>
                <a:ea typeface="Inter"/>
                <a:cs typeface="Inter"/>
                <a:sym typeface="Inter"/>
              </a:rPr>
              <a:t>Error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13248" y="3982955"/>
            <a:ext cx="512064" cy="45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sz="3057" b="1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24944" y="3984362"/>
            <a:ext cx="512064" cy="44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2928" b="1">
                <a:solidFill>
                  <a:srgbClr val="003922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56816" y="7173977"/>
            <a:ext cx="786384" cy="424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5"/>
              </a:lnSpc>
            </a:pPr>
            <a:r>
              <a:rPr lang="en-US" sz="2788" b="1">
                <a:solidFill>
                  <a:srgbClr val="219B6E"/>
                </a:solidFill>
                <a:latin typeface="Inter Bold"/>
                <a:ea typeface="Inter Bold"/>
                <a:cs typeface="Inter Bold"/>
                <a:sym typeface="Inter Bold"/>
              </a:rPr>
              <a:t>1.2 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85232" y="7199900"/>
            <a:ext cx="786384" cy="38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578" b="1">
                <a:solidFill>
                  <a:srgbClr val="219B6E"/>
                </a:solidFill>
                <a:latin typeface="Inter Bold"/>
                <a:ea typeface="Inter Bold"/>
                <a:cs typeface="Inter Bold"/>
                <a:sym typeface="Inter Bold"/>
              </a:rPr>
              <a:t>2.8 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686800" y="7173977"/>
            <a:ext cx="786384" cy="424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53" b="1">
                <a:solidFill>
                  <a:srgbClr val="219B6E"/>
                </a:solidFill>
                <a:latin typeface="Inter Bold"/>
                <a:ea typeface="Inter Bold"/>
                <a:cs typeface="Inter Bold"/>
                <a:sym typeface="Inter Bold"/>
              </a:rPr>
              <a:t>1.6 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361920" y="7195841"/>
            <a:ext cx="786384" cy="38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0"/>
              </a:lnSpc>
            </a:pPr>
            <a:r>
              <a:rPr lang="en-US" sz="2508" b="1">
                <a:solidFill>
                  <a:srgbClr val="219B6E"/>
                </a:solidFill>
                <a:latin typeface="Inter Bold"/>
                <a:ea typeface="Inter Bold"/>
                <a:cs typeface="Inter Bold"/>
                <a:sym typeface="Inter Bold"/>
              </a:rPr>
              <a:t>0.9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841248" y="1064036"/>
            <a:ext cx="6949440" cy="103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6"/>
              </a:lnSpc>
            </a:pPr>
            <a:r>
              <a:rPr lang="en-US" sz="7806" b="1">
                <a:solidFill>
                  <a:srgbClr val="0B4B39"/>
                </a:solidFill>
                <a:latin typeface="Inter Bold"/>
                <a:ea typeface="Inter Bold"/>
                <a:cs typeface="Inter Bold"/>
                <a:sym typeface="Inter Bold"/>
              </a:rPr>
              <a:t>Escala y coste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3214004"/>
            <a:ext cx="4801694" cy="6220301"/>
          </a:xfrm>
          <a:custGeom>
            <a:avLst/>
            <a:gdLst/>
            <a:ahLst/>
            <a:cxnLst/>
            <a:rect l="l" t="t" r="r" b="b"/>
            <a:pathLst>
              <a:path w="4801694" h="6220301">
                <a:moveTo>
                  <a:pt x="0" y="0"/>
                </a:moveTo>
                <a:lnTo>
                  <a:pt x="4801694" y="0"/>
                </a:lnTo>
                <a:lnTo>
                  <a:pt x="4801694" y="6220301"/>
                </a:lnTo>
                <a:lnTo>
                  <a:pt x="0" y="6220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1371600" y="4029021"/>
            <a:ext cx="2999232" cy="79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497" b="1">
                <a:solidFill>
                  <a:srgbClr val="FFF9F0"/>
                </a:solidFill>
                <a:latin typeface="Inter Bold"/>
                <a:ea typeface="Inter Bold"/>
                <a:cs typeface="Inter Bold"/>
                <a:sym typeface="Inter Bold"/>
              </a:rPr>
              <a:t>Capacidad (facturas por hora)</a:t>
            </a:r>
          </a:p>
        </p:txBody>
      </p:sp>
      <p:sp>
        <p:nvSpPr>
          <p:cNvPr id="6" name="Freeform 6"/>
          <p:cNvSpPr/>
          <p:nvPr/>
        </p:nvSpPr>
        <p:spPr>
          <a:xfrm>
            <a:off x="1082842" y="5138034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1371600" y="5838316"/>
            <a:ext cx="1700784" cy="854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723" b="1">
                <a:solidFill>
                  <a:srgbClr val="FFF9F0"/>
                </a:solidFill>
                <a:latin typeface="Inter Bold"/>
                <a:ea typeface="Inter Bold"/>
                <a:cs typeface="Inter Bold"/>
                <a:sym typeface="Inter Bold"/>
              </a:rPr>
              <a:t>Hardware utilizado</a:t>
            </a:r>
          </a:p>
        </p:txBody>
      </p:sp>
      <p:sp>
        <p:nvSpPr>
          <p:cNvPr id="8" name="Freeform 8"/>
          <p:cNvSpPr/>
          <p:nvPr/>
        </p:nvSpPr>
        <p:spPr>
          <a:xfrm>
            <a:off x="1082842" y="7062064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371600" y="7803573"/>
            <a:ext cx="3218688" cy="83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3"/>
              </a:lnSpc>
            </a:pPr>
            <a:r>
              <a:rPr lang="en-US" sz="2659" b="1">
                <a:solidFill>
                  <a:srgbClr val="FFF9F0"/>
                </a:solidFill>
                <a:latin typeface="Inter Bold"/>
                <a:ea typeface="Inter Bold"/>
                <a:cs typeface="Inter Bold"/>
                <a:sym typeface="Inter Bold"/>
              </a:rPr>
              <a:t>Fórmula o coste unitario por factura</a:t>
            </a:r>
          </a:p>
        </p:txBody>
      </p:sp>
      <p:sp>
        <p:nvSpPr>
          <p:cNvPr id="10" name="Freeform 10"/>
          <p:cNvSpPr/>
          <p:nvPr/>
        </p:nvSpPr>
        <p:spPr>
          <a:xfrm>
            <a:off x="5217330" y="2569017"/>
            <a:ext cx="11769072" cy="1082267"/>
          </a:xfrm>
          <a:custGeom>
            <a:avLst/>
            <a:gdLst/>
            <a:ahLst/>
            <a:cxnLst/>
            <a:rect l="l" t="t" r="r" b="b"/>
            <a:pathLst>
              <a:path w="11769072" h="1082267">
                <a:moveTo>
                  <a:pt x="0" y="0"/>
                </a:moveTo>
                <a:lnTo>
                  <a:pt x="11769072" y="0"/>
                </a:lnTo>
                <a:lnTo>
                  <a:pt x="11769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/>
          <p:cNvSpPr txBox="1"/>
          <p:nvPr/>
        </p:nvSpPr>
        <p:spPr>
          <a:xfrm>
            <a:off x="7534656" y="2793417"/>
            <a:ext cx="1316736" cy="4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3"/>
              </a:lnSpc>
            </a:pPr>
            <a:r>
              <a:rPr lang="en-US" sz="2788" b="1">
                <a:solidFill>
                  <a:srgbClr val="FFF9F0"/>
                </a:solidFill>
                <a:latin typeface="Inter Bold"/>
                <a:ea typeface="Inter Bold"/>
                <a:cs typeface="Inter Bold"/>
                <a:sym typeface="Inter Bold"/>
              </a:rPr>
              <a:t>Medido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30784" y="2807964"/>
            <a:ext cx="1609344" cy="46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4"/>
              </a:lnSpc>
            </a:pPr>
            <a:r>
              <a:rPr lang="en-US" sz="2753" b="1">
                <a:solidFill>
                  <a:srgbClr val="FFF9F0"/>
                </a:solidFill>
                <a:latin typeface="Inter Bold"/>
                <a:ea typeface="Inter Bold"/>
                <a:cs typeface="Inter Bold"/>
                <a:sym typeface="Inter Bold"/>
              </a:rPr>
              <a:t>Estimado</a:t>
            </a:r>
          </a:p>
        </p:txBody>
      </p:sp>
      <p:sp>
        <p:nvSpPr>
          <p:cNvPr id="13" name="Freeform 13"/>
          <p:cNvSpPr/>
          <p:nvPr/>
        </p:nvSpPr>
        <p:spPr>
          <a:xfrm>
            <a:off x="5217330" y="3421712"/>
            <a:ext cx="11769072" cy="6012593"/>
          </a:xfrm>
          <a:custGeom>
            <a:avLst/>
            <a:gdLst/>
            <a:ahLst/>
            <a:cxnLst/>
            <a:rect l="l" t="t" r="r" b="b"/>
            <a:pathLst>
              <a:path w="11769072" h="6012593">
                <a:moveTo>
                  <a:pt x="0" y="0"/>
                </a:moveTo>
                <a:lnTo>
                  <a:pt x="11769072" y="0"/>
                </a:lnTo>
                <a:lnTo>
                  <a:pt x="1176907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>
            <a:off x="5654842" y="5138034"/>
            <a:ext cx="10894048" cy="229572"/>
          </a:xfrm>
          <a:custGeom>
            <a:avLst/>
            <a:gdLst/>
            <a:ahLst/>
            <a:cxnLst/>
            <a:rect l="l" t="t" r="r" b="b"/>
            <a:pathLst>
              <a:path w="10894048" h="229572">
                <a:moveTo>
                  <a:pt x="0" y="0"/>
                </a:moveTo>
                <a:lnTo>
                  <a:pt x="10894048" y="0"/>
                </a:lnTo>
                <a:lnTo>
                  <a:pt x="10894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TextBox 15"/>
          <p:cNvSpPr txBox="1"/>
          <p:nvPr/>
        </p:nvSpPr>
        <p:spPr>
          <a:xfrm>
            <a:off x="6419088" y="5838213"/>
            <a:ext cx="3547872" cy="85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4"/>
              </a:lnSpc>
            </a:pPr>
            <a:r>
              <a:rPr lang="en-US" sz="2691">
                <a:solidFill>
                  <a:srgbClr val="028B61"/>
                </a:solidFill>
                <a:latin typeface="Inter"/>
                <a:ea typeface="Inter"/>
                <a:cs typeface="Inter"/>
                <a:sym typeface="Inter"/>
              </a:rPr>
              <a:t>1 servidor</a:t>
            </a:r>
          </a:p>
          <a:p>
            <a:pPr algn="ctr">
              <a:lnSpc>
                <a:spcPts val="3364"/>
              </a:lnSpc>
            </a:pPr>
            <a:r>
              <a:rPr lang="en-US" sz="2691">
                <a:solidFill>
                  <a:srgbClr val="028B61"/>
                </a:solidFill>
                <a:latin typeface="Inter"/>
                <a:ea typeface="Inter"/>
                <a:cs typeface="Inter"/>
                <a:sym typeface="Inter"/>
              </a:rPr>
              <a:t>(8 vCPU, 32 GB RAM)</a:t>
            </a:r>
          </a:p>
        </p:txBody>
      </p:sp>
      <p:sp>
        <p:nvSpPr>
          <p:cNvPr id="16" name="Freeform 16"/>
          <p:cNvSpPr/>
          <p:nvPr/>
        </p:nvSpPr>
        <p:spPr>
          <a:xfrm>
            <a:off x="5654842" y="7062064"/>
            <a:ext cx="10894048" cy="229572"/>
          </a:xfrm>
          <a:custGeom>
            <a:avLst/>
            <a:gdLst/>
            <a:ahLst/>
            <a:cxnLst/>
            <a:rect l="l" t="t" r="r" b="b"/>
            <a:pathLst>
              <a:path w="10894048" h="229572">
                <a:moveTo>
                  <a:pt x="0" y="0"/>
                </a:moveTo>
                <a:lnTo>
                  <a:pt x="10894048" y="0"/>
                </a:lnTo>
                <a:lnTo>
                  <a:pt x="10894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TextBox 17"/>
          <p:cNvSpPr txBox="1"/>
          <p:nvPr/>
        </p:nvSpPr>
        <p:spPr>
          <a:xfrm>
            <a:off x="6473952" y="7792846"/>
            <a:ext cx="3438144" cy="854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723">
                <a:solidFill>
                  <a:srgbClr val="028B61"/>
                </a:solidFill>
                <a:latin typeface="Inter"/>
                <a:ea typeface="Inter"/>
                <a:cs typeface="Inter"/>
                <a:sym typeface="Inter"/>
              </a:rPr>
              <a:t>Coste total /</a:t>
            </a:r>
          </a:p>
          <a:p>
            <a:pPr algn="ctr">
              <a:lnSpc>
                <a:spcPts val="3404"/>
              </a:lnSpc>
            </a:pPr>
            <a:r>
              <a:rPr lang="en-US" sz="2723">
                <a:solidFill>
                  <a:srgbClr val="028B61"/>
                </a:solidFill>
                <a:latin typeface="Inter"/>
                <a:ea typeface="Inter"/>
                <a:cs typeface="Inter"/>
                <a:sym typeface="Inter"/>
              </a:rPr>
              <a:t>facturas procesadas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883110" y="3640352"/>
            <a:ext cx="229694" cy="5367606"/>
          </a:xfrm>
          <a:custGeom>
            <a:avLst/>
            <a:gdLst/>
            <a:ahLst/>
            <a:cxnLst/>
            <a:rect l="l" t="t" r="r" b="b"/>
            <a:pathLst>
              <a:path w="229694" h="5367606">
                <a:moveTo>
                  <a:pt x="0" y="0"/>
                </a:moveTo>
                <a:lnTo>
                  <a:pt x="229694" y="0"/>
                </a:lnTo>
                <a:lnTo>
                  <a:pt x="229694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TextBox 19"/>
          <p:cNvSpPr txBox="1"/>
          <p:nvPr/>
        </p:nvSpPr>
        <p:spPr>
          <a:xfrm>
            <a:off x="7845552" y="4164480"/>
            <a:ext cx="694944" cy="45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2893">
                <a:solidFill>
                  <a:srgbClr val="028B61"/>
                </a:solidFill>
                <a:latin typeface="Inter"/>
                <a:ea typeface="Inter"/>
                <a:cs typeface="Inter"/>
                <a:sym typeface="Inter"/>
              </a:rPr>
              <a:t>500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10160" y="4179138"/>
            <a:ext cx="2450592" cy="43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5"/>
              </a:lnSpc>
            </a:pPr>
            <a:r>
              <a:rPr lang="en-US" sz="2788">
                <a:solidFill>
                  <a:srgbClr val="028B61"/>
                </a:solidFill>
                <a:latin typeface="Inter"/>
                <a:ea typeface="Inter"/>
                <a:cs typeface="Inter"/>
                <a:sym typeface="Inter"/>
              </a:rPr>
              <a:t>[COMPLETAR]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10160" y="6082233"/>
            <a:ext cx="2450592" cy="43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5"/>
              </a:lnSpc>
            </a:pPr>
            <a:r>
              <a:rPr lang="en-US" sz="2788">
                <a:solidFill>
                  <a:srgbClr val="028B61"/>
                </a:solidFill>
                <a:latin typeface="Inter"/>
                <a:ea typeface="Inter"/>
                <a:cs typeface="Inter"/>
                <a:sym typeface="Inter"/>
              </a:rPr>
              <a:t>[COMPLETAR]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10160" y="8026476"/>
            <a:ext cx="2450592" cy="43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5"/>
              </a:lnSpc>
            </a:pPr>
            <a:r>
              <a:rPr lang="en-US" sz="2788">
                <a:solidFill>
                  <a:srgbClr val="028B61"/>
                </a:solidFill>
                <a:latin typeface="Inter"/>
                <a:ea typeface="Inter"/>
                <a:cs typeface="Inter"/>
                <a:sym typeface="Inter"/>
              </a:rPr>
              <a:t>[COMPLETAR]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353312" y="1530504"/>
            <a:ext cx="6583680" cy="136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21"/>
              </a:lnSpc>
            </a:pPr>
            <a:r>
              <a:rPr lang="en-US" sz="10221" b="1" spc="-204">
                <a:solidFill>
                  <a:srgbClr val="00503F"/>
                </a:solidFill>
                <a:latin typeface="Inter Bold"/>
                <a:ea typeface="Inter Bold"/>
                <a:cs typeface="Inter Bold"/>
                <a:sym typeface="Inter Bold"/>
              </a:rPr>
              <a:t>Resiliencia</a:t>
            </a:r>
          </a:p>
        </p:txBody>
      </p:sp>
      <p:sp>
        <p:nvSpPr>
          <p:cNvPr id="4" name="Freeform 4"/>
          <p:cNvSpPr/>
          <p:nvPr/>
        </p:nvSpPr>
        <p:spPr>
          <a:xfrm>
            <a:off x="1082842" y="6854356"/>
            <a:ext cx="7634584" cy="218640"/>
          </a:xfrm>
          <a:custGeom>
            <a:avLst/>
            <a:gdLst/>
            <a:ahLst/>
            <a:cxnLst/>
            <a:rect l="l" t="t" r="r" b="b"/>
            <a:pathLst>
              <a:path w="7634584" h="218640">
                <a:moveTo>
                  <a:pt x="0" y="0"/>
                </a:moveTo>
                <a:lnTo>
                  <a:pt x="7634584" y="0"/>
                </a:lnTo>
                <a:lnTo>
                  <a:pt x="7634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8925244" y="2776725"/>
            <a:ext cx="9362756" cy="7083928"/>
          </a:xfrm>
          <a:custGeom>
            <a:avLst/>
            <a:gdLst/>
            <a:ahLst/>
            <a:cxnLst/>
            <a:rect l="l" t="t" r="r" b="b"/>
            <a:pathLst>
              <a:path w="9362756" h="7083928">
                <a:moveTo>
                  <a:pt x="0" y="0"/>
                </a:moveTo>
                <a:lnTo>
                  <a:pt x="9362756" y="0"/>
                </a:lnTo>
                <a:lnTo>
                  <a:pt x="9362756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1353312" y="3324307"/>
            <a:ext cx="6364224" cy="286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86"/>
              </a:lnSpc>
            </a:pPr>
            <a:r>
              <a:rPr lang="en-US" sz="2893">
                <a:solidFill>
                  <a:srgbClr val="00503F"/>
                </a:solidFill>
                <a:latin typeface="Inter"/>
                <a:ea typeface="Inter"/>
                <a:cs typeface="Inter"/>
                <a:sym typeface="Inter"/>
              </a:rPr>
              <a:t>Estado </a:t>
            </a:r>
            <a:r>
              <a:rPr lang="en-US" sz="2893" b="1">
                <a:solidFill>
                  <a:srgbClr val="C7D90D"/>
                </a:solidFill>
                <a:latin typeface="Inter Bold"/>
                <a:ea typeface="Inter Bold"/>
                <a:cs typeface="Inter Bold"/>
                <a:sym typeface="Inter Bold"/>
              </a:rPr>
              <a:t>conservado</a:t>
            </a:r>
            <a:r>
              <a:rPr lang="en-US" sz="2893">
                <a:solidFill>
                  <a:srgbClr val="00503F"/>
                </a:solidFill>
                <a:latin typeface="Inter"/>
                <a:ea typeface="Inter"/>
                <a:cs typeface="Inter"/>
                <a:sym typeface="Inter"/>
              </a:rPr>
              <a:t> ante fallos</a:t>
            </a:r>
          </a:p>
          <a:p>
            <a:pPr algn="l">
              <a:lnSpc>
                <a:spcPts val="5786"/>
              </a:lnSpc>
            </a:pPr>
            <a:r>
              <a:rPr lang="en-US" sz="2893" b="1">
                <a:solidFill>
                  <a:srgbClr val="C7D90D"/>
                </a:solidFill>
                <a:latin typeface="Inter Bold"/>
                <a:ea typeface="Inter Bold"/>
                <a:cs typeface="Inter Bold"/>
                <a:sym typeface="Inter Bold"/>
              </a:rPr>
              <a:t>Sin duplicados</a:t>
            </a:r>
            <a:r>
              <a:rPr lang="en-US" sz="2893">
                <a:solidFill>
                  <a:srgbClr val="00503F"/>
                </a:solidFill>
                <a:latin typeface="Inter"/>
                <a:ea typeface="Inter"/>
                <a:cs typeface="Inter"/>
                <a:sym typeface="Inter"/>
              </a:rPr>
              <a:t> ni pérdida de datos</a:t>
            </a:r>
          </a:p>
          <a:p>
            <a:pPr algn="l">
              <a:lnSpc>
                <a:spcPts val="5786"/>
              </a:lnSpc>
            </a:pPr>
            <a:r>
              <a:rPr lang="en-US" sz="2893">
                <a:solidFill>
                  <a:srgbClr val="00503F"/>
                </a:solidFill>
                <a:latin typeface="Inter"/>
                <a:ea typeface="Inter"/>
                <a:cs typeface="Inter"/>
                <a:sym typeface="Inter"/>
              </a:rPr>
              <a:t>Degradación </a:t>
            </a:r>
            <a:r>
              <a:rPr lang="en-US" sz="2893" b="1">
                <a:solidFill>
                  <a:srgbClr val="C7D90D"/>
                </a:solidFill>
                <a:latin typeface="Inter Bold"/>
                <a:ea typeface="Inter Bold"/>
                <a:cs typeface="Inter Bold"/>
                <a:sym typeface="Inter Bold"/>
              </a:rPr>
              <a:t>controlada</a:t>
            </a:r>
            <a:r>
              <a:rPr lang="en-US" sz="2893">
                <a:solidFill>
                  <a:srgbClr val="00503F"/>
                </a:solidFill>
                <a:latin typeface="Inter"/>
                <a:ea typeface="Inter"/>
                <a:cs typeface="Inter"/>
                <a:sym typeface="Inter"/>
              </a:rPr>
              <a:t> del servicio</a:t>
            </a:r>
          </a:p>
          <a:p>
            <a:pPr algn="l">
              <a:lnSpc>
                <a:spcPts val="5786"/>
              </a:lnSpc>
            </a:pPr>
            <a:r>
              <a:rPr lang="en-US" sz="2893" b="1">
                <a:solidFill>
                  <a:srgbClr val="C7D90D"/>
                </a:solidFill>
                <a:latin typeface="Inter Bold"/>
                <a:ea typeface="Inter Bold"/>
                <a:cs typeface="Inter Bold"/>
                <a:sym typeface="Inter Bold"/>
              </a:rPr>
              <a:t>Recuperación</a:t>
            </a:r>
            <a:r>
              <a:rPr lang="en-US" sz="2893">
                <a:solidFill>
                  <a:srgbClr val="00503F"/>
                </a:solidFill>
                <a:latin typeface="Inter"/>
                <a:ea typeface="Inter"/>
                <a:cs typeface="Inter"/>
                <a:sym typeface="Inter"/>
              </a:rPr>
              <a:t> automática y segura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3312" y="7526803"/>
            <a:ext cx="7498080" cy="1181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2683" b="1">
                <a:solidFill>
                  <a:srgbClr val="C7D90D"/>
                </a:solidFill>
                <a:latin typeface="Inter Bold"/>
                <a:ea typeface="Inter Bold"/>
                <a:cs typeface="Inter Bold"/>
                <a:sym typeface="Inter Bold"/>
              </a:rPr>
              <a:t>Lote 2: </a:t>
            </a:r>
            <a:r>
              <a:rPr lang="en-US" sz="2683">
                <a:solidFill>
                  <a:srgbClr val="00503F"/>
                </a:solidFill>
                <a:latin typeface="Inter"/>
                <a:ea typeface="Inter"/>
                <a:cs typeface="Inter"/>
                <a:sym typeface="Inter"/>
              </a:rPr>
              <a:t>+40 facturas, ERP actualizado</a:t>
            </a:r>
          </a:p>
          <a:p>
            <a:pPr algn="l">
              <a:lnSpc>
                <a:spcPts val="4829"/>
              </a:lnSpc>
            </a:pPr>
            <a:r>
              <a:rPr lang="en-US" sz="2683">
                <a:solidFill>
                  <a:srgbClr val="00503F"/>
                </a:solidFill>
                <a:latin typeface="Inter"/>
                <a:ea typeface="Inter"/>
                <a:cs typeface="Inter"/>
                <a:sym typeface="Inter"/>
              </a:rPr>
              <a:t>Reprocesa decisiones y </a:t>
            </a:r>
            <a:r>
              <a:rPr lang="en-US" sz="2683" b="1">
                <a:solidFill>
                  <a:srgbClr val="C7D90D"/>
                </a:solidFill>
                <a:latin typeface="Inter Bold"/>
                <a:ea typeface="Inter Bold"/>
                <a:cs typeface="Inter Bold"/>
                <a:sym typeface="Inter Bold"/>
              </a:rPr>
              <a:t>se integra</a:t>
            </a:r>
            <a:r>
              <a:rPr lang="en-US" sz="2683">
                <a:solidFill>
                  <a:srgbClr val="00503F"/>
                </a:solidFill>
                <a:latin typeface="Inter"/>
                <a:ea typeface="Inter"/>
                <a:cs typeface="Inter"/>
                <a:sym typeface="Inter"/>
              </a:rPr>
              <a:t> sin fricción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7114032" y="399872"/>
            <a:ext cx="4059936" cy="164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43"/>
              </a:lnSpc>
            </a:pPr>
            <a:r>
              <a:rPr lang="en-US" sz="10702" b="1">
                <a:solidFill>
                  <a:srgbClr val="1349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Cierre</a:t>
            </a:r>
          </a:p>
        </p:txBody>
      </p:sp>
      <p:sp>
        <p:nvSpPr>
          <p:cNvPr id="4" name="Freeform 4"/>
          <p:cNvSpPr/>
          <p:nvPr/>
        </p:nvSpPr>
        <p:spPr>
          <a:xfrm>
            <a:off x="5654842" y="2142670"/>
            <a:ext cx="6978316" cy="218640"/>
          </a:xfrm>
          <a:custGeom>
            <a:avLst/>
            <a:gdLst/>
            <a:ahLst/>
            <a:cxnLst/>
            <a:rect l="l" t="t" r="r" b="b"/>
            <a:pathLst>
              <a:path w="6978316" h="218640">
                <a:moveTo>
                  <a:pt x="0" y="0"/>
                </a:moveTo>
                <a:lnTo>
                  <a:pt x="6978316" y="0"/>
                </a:lnTo>
                <a:lnTo>
                  <a:pt x="697831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6126480" y="2539244"/>
            <a:ext cx="6108192" cy="40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723" b="1">
                <a:solidFill>
                  <a:srgbClr val="1349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 esencial que nos lleva adelante</a:t>
            </a:r>
          </a:p>
        </p:txBody>
      </p:sp>
      <p:sp>
        <p:nvSpPr>
          <p:cNvPr id="6" name="Freeform 6"/>
          <p:cNvSpPr/>
          <p:nvPr/>
        </p:nvSpPr>
        <p:spPr>
          <a:xfrm>
            <a:off x="1739110" y="3421712"/>
            <a:ext cx="4582938" cy="2798589"/>
          </a:xfrm>
          <a:custGeom>
            <a:avLst/>
            <a:gdLst/>
            <a:ahLst/>
            <a:cxnLst/>
            <a:rect l="l" t="t" r="r" b="b"/>
            <a:pathLst>
              <a:path w="4582938" h="2798589">
                <a:moveTo>
                  <a:pt x="0" y="0"/>
                </a:moveTo>
                <a:lnTo>
                  <a:pt x="4582938" y="0"/>
                </a:lnTo>
                <a:lnTo>
                  <a:pt x="458293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2267712" y="3736763"/>
            <a:ext cx="1115568" cy="1168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9"/>
              </a:lnSpc>
            </a:pPr>
            <a:r>
              <a:rPr lang="en-US" sz="7632" b="1">
                <a:solidFill>
                  <a:srgbClr val="1349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67712" y="5001384"/>
            <a:ext cx="3566160" cy="28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1">
                <a:solidFill>
                  <a:srgbClr val="1349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Resolvemos un problema real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67712" y="5466029"/>
            <a:ext cx="2706624" cy="26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690">
                <a:solidFill>
                  <a:srgbClr val="134937"/>
                </a:solidFill>
                <a:latin typeface="Inter Light"/>
                <a:ea typeface="Inter Light"/>
                <a:cs typeface="Inter Light"/>
                <a:sym typeface="Inter Light"/>
              </a:rPr>
              <a:t>Simplificamos lo complejo.</a:t>
            </a:r>
          </a:p>
        </p:txBody>
      </p:sp>
      <p:sp>
        <p:nvSpPr>
          <p:cNvPr id="10" name="Freeform 10"/>
          <p:cNvSpPr/>
          <p:nvPr/>
        </p:nvSpPr>
        <p:spPr>
          <a:xfrm>
            <a:off x="6956440" y="3421712"/>
            <a:ext cx="4582938" cy="2798589"/>
          </a:xfrm>
          <a:custGeom>
            <a:avLst/>
            <a:gdLst/>
            <a:ahLst/>
            <a:cxnLst/>
            <a:rect l="l" t="t" r="r" b="b"/>
            <a:pathLst>
              <a:path w="4582938" h="2798589">
                <a:moveTo>
                  <a:pt x="0" y="0"/>
                </a:moveTo>
                <a:lnTo>
                  <a:pt x="4582938" y="0"/>
                </a:lnTo>
                <a:lnTo>
                  <a:pt x="458293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/>
          <p:cNvSpPr txBox="1"/>
          <p:nvPr/>
        </p:nvSpPr>
        <p:spPr>
          <a:xfrm>
            <a:off x="7424928" y="3714899"/>
            <a:ext cx="1298448" cy="121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6"/>
              </a:lnSpc>
            </a:pPr>
            <a:r>
              <a:rPr lang="en-US" sz="7922" b="1">
                <a:solidFill>
                  <a:srgbClr val="1349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24928" y="4970523"/>
            <a:ext cx="3584448" cy="28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1">
                <a:solidFill>
                  <a:srgbClr val="1349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Decisiones basadas en datos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24928" y="5445455"/>
            <a:ext cx="3108960" cy="26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690">
                <a:solidFill>
                  <a:srgbClr val="134937"/>
                </a:solidFill>
                <a:latin typeface="Inter Light"/>
                <a:ea typeface="Inter Light"/>
                <a:cs typeface="Inter Light"/>
                <a:sym typeface="Inter Light"/>
              </a:rPr>
              <a:t>Menos tiempo, más precisión.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2184708" y="3421712"/>
            <a:ext cx="4582938" cy="2798589"/>
          </a:xfrm>
          <a:custGeom>
            <a:avLst/>
            <a:gdLst/>
            <a:ahLst/>
            <a:cxnLst/>
            <a:rect l="l" t="t" r="r" b="b"/>
            <a:pathLst>
              <a:path w="4582938" h="2798589">
                <a:moveTo>
                  <a:pt x="0" y="0"/>
                </a:moveTo>
                <a:lnTo>
                  <a:pt x="4582938" y="0"/>
                </a:lnTo>
                <a:lnTo>
                  <a:pt x="458293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TextBox 15"/>
          <p:cNvSpPr txBox="1"/>
          <p:nvPr/>
        </p:nvSpPr>
        <p:spPr>
          <a:xfrm>
            <a:off x="12801600" y="3740822"/>
            <a:ext cx="1298448" cy="1169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98"/>
              </a:lnSpc>
            </a:pPr>
            <a:r>
              <a:rPr lang="en-US" sz="7748" b="1">
                <a:solidFill>
                  <a:srgbClr val="1349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01600" y="4970523"/>
            <a:ext cx="2578608" cy="28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1">
                <a:solidFill>
                  <a:srgbClr val="1349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Valor para el negocio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01600" y="5445455"/>
            <a:ext cx="3310128" cy="26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690">
                <a:solidFill>
                  <a:srgbClr val="134937"/>
                </a:solidFill>
                <a:latin typeface="Inter Light"/>
                <a:ea typeface="Inter Light"/>
                <a:cs typeface="Inter Light"/>
                <a:sym typeface="Inter Light"/>
              </a:rPr>
              <a:t>Impacto medible y sostenible.</a:t>
            </a:r>
          </a:p>
        </p:txBody>
      </p:sp>
      <p:sp>
        <p:nvSpPr>
          <p:cNvPr id="18" name="Freeform 18"/>
          <p:cNvSpPr/>
          <p:nvPr/>
        </p:nvSpPr>
        <p:spPr>
          <a:xfrm>
            <a:off x="3259464" y="6428009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TextBox 19"/>
          <p:cNvSpPr txBox="1"/>
          <p:nvPr/>
        </p:nvSpPr>
        <p:spPr>
          <a:xfrm>
            <a:off x="3566160" y="6943692"/>
            <a:ext cx="2505456" cy="34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1">
                <a:solidFill>
                  <a:srgbClr val="13493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Mejora adicional: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47104" y="6921506"/>
            <a:ext cx="8247888" cy="40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b="1">
                <a:solidFill>
                  <a:srgbClr val="00A66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Automatización inteligente de alertas de pago</a:t>
            </a:r>
          </a:p>
        </p:txBody>
      </p:sp>
      <p:sp>
        <p:nvSpPr>
          <p:cNvPr id="21" name="Freeform 21"/>
          <p:cNvSpPr/>
          <p:nvPr/>
        </p:nvSpPr>
        <p:spPr>
          <a:xfrm>
            <a:off x="3259464" y="7499343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Freeform 22"/>
          <p:cNvSpPr/>
          <p:nvPr/>
        </p:nvSpPr>
        <p:spPr>
          <a:xfrm>
            <a:off x="1957866" y="7925691"/>
            <a:ext cx="14372268" cy="1934962"/>
          </a:xfrm>
          <a:custGeom>
            <a:avLst/>
            <a:gdLst/>
            <a:ahLst/>
            <a:cxnLst/>
            <a:rect l="l" t="t" r="r" b="b"/>
            <a:pathLst>
              <a:path w="14372268" h="1934962">
                <a:moveTo>
                  <a:pt x="0" y="0"/>
                </a:moveTo>
                <a:lnTo>
                  <a:pt x="14372268" y="0"/>
                </a:lnTo>
                <a:lnTo>
                  <a:pt x="1437226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TextBox 23"/>
          <p:cNvSpPr txBox="1"/>
          <p:nvPr/>
        </p:nvSpPr>
        <p:spPr>
          <a:xfrm>
            <a:off x="2779776" y="8413121"/>
            <a:ext cx="12728448" cy="40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723" b="1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Menos esfuerzo manual. Decisiones más rápidas. Mejores resultados.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89120" y="8999480"/>
            <a:ext cx="9491472" cy="40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723">
                <a:solidFill>
                  <a:srgbClr val="D2E037"/>
                </a:solidFill>
                <a:latin typeface="Inter"/>
                <a:ea typeface="Inter"/>
                <a:cs typeface="Inter"/>
                <a:sym typeface="Inter"/>
              </a:rPr>
              <a:t>Sigamos construyendo el futuro de la gestión financiera.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620</Words>
  <Application>Microsoft Office PowerPoint</Application>
  <PresentationFormat>Personalizado</PresentationFormat>
  <Paragraphs>172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Calibri</vt:lpstr>
      <vt:lpstr>Inter Semi-Bold</vt:lpstr>
      <vt:lpstr>Inter Light</vt:lpstr>
      <vt:lpstr>Aptos</vt:lpstr>
      <vt:lpstr>Inter</vt:lpstr>
      <vt:lpstr>Inter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Alberto AI</dc:title>
  <cp:lastModifiedBy>ALFONSO JIMENA RUIZ</cp:lastModifiedBy>
  <cp:revision>2</cp:revision>
  <dcterms:created xsi:type="dcterms:W3CDTF">2006-08-16T00:00:00Z</dcterms:created>
  <dcterms:modified xsi:type="dcterms:W3CDTF">2026-09-19T08:55:17Z</dcterms:modified>
  <dc:identifier>DAHVoKKsd5g</dc:identifier>
</cp:coreProperties>
</file>